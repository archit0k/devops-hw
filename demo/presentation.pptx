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dee84bd24c45c0" /><Relationship Type="http://schemas.openxmlformats.org/officeDocument/2006/relationships/extended-properties" Target="/docProps/app.xml" Id="R7254aa54b2a143bb" /><Relationship Type="http://schemas.openxmlformats.org/officeDocument/2006/relationships/officeDocument" Target="/ppt/presentation.xml" Id="Rd6242d71ebba49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58c7b631e54528"/>
  </p:sldMasterIdLst>
  <p:notesMasterIdLst>
    <p:notesMasterId xmlns:r="http://schemas.openxmlformats.org/officeDocument/2006/relationships" r:id="Reb1b2cb9989d4bb3"/>
  </p:notesMasterIdLst>
  <p:sldIdLst>
    <p:sldId xmlns:r="http://schemas.openxmlformats.org/officeDocument/2006/relationships" id="256" r:id="R54d8d20d29704449"/>
    <p:sldId xmlns:r="http://schemas.openxmlformats.org/officeDocument/2006/relationships" id="257" r:id="R91be42338c994d14"/>
    <p:sldId xmlns:r="http://schemas.openxmlformats.org/officeDocument/2006/relationships" id="258" r:id="R9d231852f92c49a1"/>
    <p:sldId xmlns:r="http://schemas.openxmlformats.org/officeDocument/2006/relationships" id="259" r:id="R63315c6e7ab54cc7"/>
    <p:sldId xmlns:r="http://schemas.openxmlformats.org/officeDocument/2006/relationships" id="260" r:id="Ra07bc39fd28d44ea"/>
    <p:sldId xmlns:r="http://schemas.openxmlformats.org/officeDocument/2006/relationships" id="261" r:id="R8f0d6e00d933401d"/>
    <p:sldId xmlns:r="http://schemas.openxmlformats.org/officeDocument/2006/relationships" id="262" r:id="Ra709c86b8fdb4a8e"/>
    <p:sldId xmlns:r="http://schemas.openxmlformats.org/officeDocument/2006/relationships" id="263" r:id="Ra8993245cde349db"/>
    <p:sldId xmlns:r="http://schemas.openxmlformats.org/officeDocument/2006/relationships" id="264" r:id="R7229f37d7e784c22"/>
    <p:sldId xmlns:r="http://schemas.openxmlformats.org/officeDocument/2006/relationships" id="265" r:id="Rccdd0abd8dcb40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fe44a311b34af9" /><Relationship Type="http://schemas.openxmlformats.org/officeDocument/2006/relationships/slideMaster" Target="/ppt/slideMasters/slideMaster1.xml" Id="R4958c7b631e54528" /><Relationship Type="http://schemas.openxmlformats.org/officeDocument/2006/relationships/notesMaster" Target="/ppt/notesMasters/notesMaster1.xml" Id="Reb1b2cb9989d4bb3" /><Relationship Type="http://schemas.openxmlformats.org/officeDocument/2006/relationships/presProps" Target="/ppt/presProps.xml" Id="R21e7c2a0abeb4f1f" /><Relationship Type="http://schemas.openxmlformats.org/officeDocument/2006/relationships/tableStyles" Target="/ppt/tableStyles.xml" Id="Raab0a38fb1e646c9" /><Relationship Type="http://schemas.openxmlformats.org/officeDocument/2006/relationships/slide" Target="/ppt/slides/slide1.xml" Id="R54d8d20d29704449" /><Relationship Type="http://schemas.openxmlformats.org/officeDocument/2006/relationships/slide" Target="/ppt/slides/slide2.xml" Id="R91be42338c994d14" /><Relationship Type="http://schemas.openxmlformats.org/officeDocument/2006/relationships/slide" Target="/ppt/slides/slide3.xml" Id="R9d231852f92c49a1" /><Relationship Type="http://schemas.openxmlformats.org/officeDocument/2006/relationships/slide" Target="/ppt/slides/slide4.xml" Id="R63315c6e7ab54cc7" /><Relationship Type="http://schemas.openxmlformats.org/officeDocument/2006/relationships/slide" Target="/ppt/slides/slide5.xml" Id="Ra07bc39fd28d44ea" /><Relationship Type="http://schemas.openxmlformats.org/officeDocument/2006/relationships/slide" Target="/ppt/slides/slide6.xml" Id="R8f0d6e00d933401d" /><Relationship Type="http://schemas.openxmlformats.org/officeDocument/2006/relationships/slide" Target="/ppt/slides/slide7.xml" Id="Ra709c86b8fdb4a8e" /><Relationship Type="http://schemas.openxmlformats.org/officeDocument/2006/relationships/slide" Target="/ppt/slides/slide8.xml" Id="Ra8993245cde349db" /><Relationship Type="http://schemas.openxmlformats.org/officeDocument/2006/relationships/slide" Target="/ppt/slides/slide9.xml" Id="R7229f37d7e784c22" /><Relationship Type="http://schemas.openxmlformats.org/officeDocument/2006/relationships/slide" Target="/ppt/slides/slide10.xml" Id="Rccdd0abd8dcb40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e23bfd098846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983ca0065049f0" /><Relationship Type="http://schemas.openxmlformats.org/officeDocument/2006/relationships/notesMaster" Target="/ppt/notesMasters/notesMaster1.xml" Id="R40363038654147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87c87f362a4742" /><Relationship Type="http://schemas.openxmlformats.org/officeDocument/2006/relationships/notesMaster" Target="/ppt/notesMasters/notesMaster1.xml" Id="Rde10a01b6bf943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855f4d26b24a57" /><Relationship Type="http://schemas.openxmlformats.org/officeDocument/2006/relationships/notesMaster" Target="/ppt/notesMasters/notesMaster1.xml" Id="Red636db3fdba4d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2e5f8b9d2a4bc0" /><Relationship Type="http://schemas.openxmlformats.org/officeDocument/2006/relationships/notesMaster" Target="/ppt/notesMasters/notesMaster1.xml" Id="Re3e654d0edae4a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bb41cdb25e47de" /><Relationship Type="http://schemas.openxmlformats.org/officeDocument/2006/relationships/notesMaster" Target="/ppt/notesMasters/notesMaster1.xml" Id="Rb2536657ce4442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94cf175d14447d" /><Relationship Type="http://schemas.openxmlformats.org/officeDocument/2006/relationships/notesMaster" Target="/ppt/notesMasters/notesMaster1.xml" Id="Rfbc2f254a7dc41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2f4fc572384e56" /><Relationship Type="http://schemas.openxmlformats.org/officeDocument/2006/relationships/notesMaster" Target="/ppt/notesMasters/notesMaster1.xml" Id="Rf50f9dee252d46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a08d67bc124ec1" /><Relationship Type="http://schemas.openxmlformats.org/officeDocument/2006/relationships/notesMaster" Target="/ppt/notesMasters/notesMaster1.xml" Id="Rad076de0c52042f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1be66e03094d31" /><Relationship Type="http://schemas.openxmlformats.org/officeDocument/2006/relationships/notesMaster" Target="/ppt/notesMasters/notesMaster1.xml" Id="Rb1a7ff5c268849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c371b19d1249d2" /><Relationship Type="http://schemas.openxmlformats.org/officeDocument/2006/relationships/notesMaster" Target="/ppt/notesMasters/notesMaster1.xml" Id="R8896ab0aa3ba46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classroom application for reserving one-hour study-room slots. The project uses only disposable demo bookings. Source: https://github.com/archit0k/Devops-HW/tree/main/project</a:t>
            </a:r>
          </a:p>
          <a:p xmlns:a="http://schemas.openxmlformats.org/drawingml/2006/main">
            <a:r>
              <a:t>Requirements: https://github.com/Nency-Ravaliya/devsecops-python/blob/main/GRADING.md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https://github.com/archit0k/Devops-HW/tree/main/project</a:t>
            </a:r>
          </a:p>
          <a:p xmlns:a="http://schemas.openxmlformats.org/drawingml/2006/main">
            <a:r>
              <a:t>Requirements: https://github.com/Nency-Ravaliya/devsecops-python/blob/main/GRADING.md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https://github.com/archit0k/Devops-HW/tree/main/project</a:t>
            </a:r>
          </a:p>
          <a:p xmlns:a="http://schemas.openxmlformats.org/drawingml/2006/main">
            <a:r>
              <a:t>Requirements: https://github.com/Nency-Ravaliya/devsecops-python/blob/main/GRADING.md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https://github.com/archit0k/Devops-HW/tree/main/project</a:t>
            </a:r>
          </a:p>
          <a:p xmlns:a="http://schemas.openxmlformats.org/drawingml/2006/main">
            <a:r>
              <a:t>Requirements: https://github.com/Nency-Ravaliya/devsecops-python/blob/main/GRADING.md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https://github.com/archit0k/Devops-HW/tree/main/project</a:t>
            </a:r>
          </a:p>
          <a:p xmlns:a="http://schemas.openxmlformats.org/drawingml/2006/main">
            <a:r>
              <a:t>Requirements: https://github.com/Nency-Ravaliya/devsecops-python/blob/main/GRADING.md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https://github.com/archit0k/Devops-HW/tree/main/project</a:t>
            </a:r>
          </a:p>
          <a:p xmlns:a="http://schemas.openxmlformats.org/drawingml/2006/main">
            <a:r>
              <a:t>Requirements: https://github.com/Nency-Ravaliya/devsecops-python/blob/main/GRADING.md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https://github.com/archit0k/Devops-HW/tree/main/project</a:t>
            </a:r>
          </a:p>
          <a:p xmlns:a="http://schemas.openxmlformats.org/drawingml/2006/main">
            <a:r>
              <a:t>Requirements: https://github.com/Nency-Ravaliya/devsecops-python/blob/main/GRADING.md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https://github.com/archit0k/Devops-HW/tree/main/project</a:t>
            </a:r>
          </a:p>
          <a:p xmlns:a="http://schemas.openxmlformats.org/drawingml/2006/main">
            <a:r>
              <a:t>Requirements: https://github.com/Nency-Ravaliya/devsecops-python/blob/main/GRADING.md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https://github.com/archit0k/Devops-HW/tree/main/project</a:t>
            </a:r>
          </a:p>
          <a:p xmlns:a="http://schemas.openxmlformats.org/drawingml/2006/main">
            <a:r>
              <a:t>Requirements: https://github.com/Nency-Ravaliya/devsecops-python/blob/main/GRADING.md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https://github.com/archit0k/Devops-HW/tree/main/project</a:t>
            </a:r>
          </a:p>
          <a:p xmlns:a="http://schemas.openxmlformats.org/drawingml/2006/main">
            <a:r>
              <a:t>Requirements: https://github.com/Nency-Ravaliya/devsecops-python/blob/main/GRADING.md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449f58b723477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8c026643b441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315c61038e4e3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5550e6919c441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054d5553834d1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f85a2d78c14f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D1A208-6590-4102-BBD7-5BBCA47EB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F7C6DE0-68AE-4210-A867-93086F4E31F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C303602-45E1-4C3E-95EE-F22360DCE4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FD87BF-0F74-4C18-8456-7C55A8010F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3EF00A9-B02B-4543-B60E-1CA729DF83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9C080C1-CC08-4A12-8F47-B462D87728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0707C89-AB24-458F-B77D-8DCD9EF1B5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3744071-9A81-4681-858E-66687A3530A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508059F-E7DB-4655-A1A7-1ED20B7518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79720DB-594A-4A03-8E2C-EB7A1311F9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f8039b1b404ffe" /><Relationship Type="http://schemas.openxmlformats.org/officeDocument/2006/relationships/slideLayout" Target="/ppt/slideLayouts/slideLayout1.xml" Id="R0fbab974cdee4b35" /><Relationship Type="http://schemas.openxmlformats.org/officeDocument/2006/relationships/slideLayout" Target="/ppt/slideLayouts/slideLayout2.xml" Id="R19f6b4a60b6e4b85" /><Relationship Type="http://schemas.openxmlformats.org/officeDocument/2006/relationships/slideLayout" Target="/ppt/slideLayouts/slideLayout3.xml" Id="R4b3ddebf68a34fc6" /><Relationship Type="http://schemas.openxmlformats.org/officeDocument/2006/relationships/slideLayout" Target="/ppt/slideLayouts/slideLayout4.xml" Id="R85b389282d42494e" /><Relationship Type="http://schemas.openxmlformats.org/officeDocument/2006/relationships/slideLayout" Target="/ppt/slideLayouts/slideLayout5.xml" Id="R7fc73e640bfe4c33" /><Relationship Type="http://schemas.openxmlformats.org/officeDocument/2006/relationships/slideLayout" Target="/ppt/slideLayouts/slideLayout6.xml" Id="Rc5911ba4f47642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bab974cdee4b35"/>
    <p:sldLayoutId xmlns:r="http://schemas.openxmlformats.org/officeDocument/2006/relationships" id="2147483650" r:id="R19f6b4a60b6e4b85"/>
    <p:sldLayoutId xmlns:r="http://schemas.openxmlformats.org/officeDocument/2006/relationships" id="2147483651" r:id="R4b3ddebf68a34fc6"/>
    <p:sldLayoutId xmlns:r="http://schemas.openxmlformats.org/officeDocument/2006/relationships" id="2147483652" r:id="R85b389282d42494e"/>
    <p:sldLayoutId xmlns:r="http://schemas.openxmlformats.org/officeDocument/2006/relationships" id="2147483653" r:id="R7fc73e640bfe4c33"/>
    <p:sldLayoutId xmlns:r="http://schemas.openxmlformats.org/officeDocument/2006/relationships" id="2147483654" r:id="Rc5911ba4f47642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56d3e958164944" /><Relationship Type="http://schemas.openxmlformats.org/officeDocument/2006/relationships/notesSlide" Target="/ppt/notesSlides/notesSlide1.xml" Id="R65cdd55c6acd4b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6ccd33d5de48e8" /><Relationship Type="http://schemas.openxmlformats.org/officeDocument/2006/relationships/image" Target="/ppt/media/image.jpeg" Id="R7a745fccb7b844c4" /><Relationship Type="http://schemas.openxmlformats.org/officeDocument/2006/relationships/notesSlide" Target="/ppt/notesSlides/notesSlide2.xml" Id="R3008cab5db064e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e575d3666940c6" /><Relationship Type="http://schemas.openxmlformats.org/officeDocument/2006/relationships/notesSlide" Target="/ppt/notesSlides/notesSlide3.xml" Id="Rd1a63b36c85449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9610cc55264bae" /><Relationship Type="http://schemas.openxmlformats.org/officeDocument/2006/relationships/notesSlide" Target="/ppt/notesSlides/notesSlide4.xml" Id="R6c46d56d542449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bc7a5d6e294c73" /><Relationship Type="http://schemas.openxmlformats.org/officeDocument/2006/relationships/notesSlide" Target="/ppt/notesSlides/notesSlide5.xml" Id="Rc9edc74ebae64e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f838bb042e4063" /><Relationship Type="http://schemas.openxmlformats.org/officeDocument/2006/relationships/notesSlide" Target="/ppt/notesSlides/notesSlide6.xml" Id="R32a41eb3b6894f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f0c4720ff44d75" /><Relationship Type="http://schemas.openxmlformats.org/officeDocument/2006/relationships/notesSlide" Target="/ppt/notesSlides/notesSlide7.xml" Id="Ra5c6a74c4abd41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2a06a9a35140fc" /><Relationship Type="http://schemas.openxmlformats.org/officeDocument/2006/relationships/notesSlide" Target="/ppt/notesSlides/notesSlide8.xml" Id="R4ec66de7bdcd46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d9d97c6c234dfd" /><Relationship Type="http://schemas.openxmlformats.org/officeDocument/2006/relationships/notesSlide" Target="/ppt/notesSlides/notesSlide9.xml" Id="R51cd85eb9a0843e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72a7ed11444873" /><Relationship Type="http://schemas.openxmlformats.org/officeDocument/2006/relationships/notesSlide" Target="/ppt/notesSlides/notesSlide10.xml" Id="R9d0a1427324e435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342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AD7A0A-71BC-450B-A869-B610F297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StudySlot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F5F220-9CB5-43EB-91EA-32B1F154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0">
                <a:solidFill>
                  <a:srgbClr val="D0DDC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D0DDC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0DDC4"/>
                </a:solidFill>
                <a:latin typeface="Arial"/>
                <a:ea typeface="Arial"/>
                <a:cs typeface="Arial"/>
              </a:rPr>
              <a:t>Study-room booking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AD9FF-0B44-40B0-9E00-3BAC1E30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Archit Kulkarni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24BCS10194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Section A</a:t>
            </a:r>
          </a:p>
        </p:txBody>
      </p:sp>
    </p:spTree>
    <p:extLst>
      <p:ext uri="{BB962C8B-B14F-4D97-AF65-F5344CB8AC3E}">
        <p14:creationId xmlns:p14="http://schemas.microsoft.com/office/powerpoint/2010/main" val="3058488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C7ADA1-7C8E-4B95-B4DA-9C9E8712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The booking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C4AD8-B13C-4414-B6CD-BBAFDE36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552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One room, one hour, one booking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D70983-563D-4B73-BAFA-057777BA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47148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Students can reserve a room, change the time or cancel. Room capacity checks and a PostgreSQL unique constraint prevent invalid or overlapping bookings.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138C2B-3B8F-4636-87F9-4D01416E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4714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87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87B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87B64"/>
                </a:solidFill>
                <a:latin typeface="Arial"/>
                <a:ea typeface="Arial"/>
                <a:cs typeface="Arial"/>
              </a:rPr>
              <a:t>Classroom data only. The app has no user authentication.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E74E76-6A03-415F-BE73-390EC722A0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745fccb7b844c4"/>
          <a:stretch xmlns:a="http://schemas.openxmlformats.org/drawingml/2006/main"/>
        </p:blipFill>
        <p:spPr>
          <a:xfrm xmlns:a="http://schemas.openxmlformats.org/drawingml/2006/main">
            <a:off x="6002821" y="1447800"/>
            <a:ext cx="5234609" cy="4857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1684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35823-D75A-449B-92E6-F7F3701A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Tech stack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7F32FA-3DA6-4B87-AEEB-7BFD9099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React and Vite serve the booking form through Nginx.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B8C9B-664A-4864-B324-D29667D4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FastAPI handles CRUD, validation, health and metrics.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E944C-7C45-4FCB-8167-BD2C6373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PostgreSQL stores bookings. Alembic manages the schema.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6A6A4-6B41-476E-86DD-26BE8E1F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Docker, GitHub Actions and Trivy build and check both images.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AA6BA8-E6A0-47EA-AD00-EDC8E0DF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Terraform, Kubernetes, Helm, Argo CD, Prometheus and Grafana.</a:t>
            </a:r>
          </a:p>
        </p:txBody>
      </p:sp>
    </p:spTree>
    <p:extLst>
      <p:ext uri="{BB962C8B-B14F-4D97-AF65-F5344CB8AC3E}">
        <p14:creationId xmlns:p14="http://schemas.microsoft.com/office/powerpoint/2010/main" val="1895953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8E9A42-23EA-471D-AF06-CF7BAC6CCFF4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334375" y="457200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B64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61CE4-B812-451A-99E9-E3469B2305B1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7286625" y="2762250"/>
            <a:ext cx="95250" cy="1381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B64"/>
            </a:solidFill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822AE1-232D-402A-A76A-B439AC9E923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429625" y="23336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B64"/>
            </a:solidFill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C0596A-3104-4762-B2CC-C9CB7BB4A423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572125" y="23336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B64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07E88-D2E0-44A7-B7D4-439C78359D26}"/>
              </a:ext>
            </a:extLst>
          </p:cNvPr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2714625" y="23336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B64"/>
            </a:solidFill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877752-1696-4AE5-BE3C-2A71DE3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Application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1C34C7-6DC5-4CB5-8925-9D07780E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05000"/>
            <a:ext cx="2095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DF"/>
          </a:solidFill>
          <a:ln xmlns:a="http://schemas.openxmlformats.org/drawingml/2006/main" w="14288">
            <a:solidFill>
              <a:srgbClr val="8B9E7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A23AB-0312-4B5A-99AC-40F8C85D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905000"/>
            <a:ext cx="2095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DF"/>
          </a:solidFill>
          <a:ln xmlns:a="http://schemas.openxmlformats.org/drawingml/2006/main" w="14288">
            <a:solidFill>
              <a:srgbClr val="8B9E7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Ingress / Nginx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C4DCF-05D4-400C-B88B-633E3509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05000"/>
            <a:ext cx="2095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DF"/>
          </a:solidFill>
          <a:ln xmlns:a="http://schemas.openxmlformats.org/drawingml/2006/main" w="14288">
            <a:solidFill>
              <a:srgbClr val="8B9E7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29186-5D37-44FB-BC93-7CCD838D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05000"/>
            <a:ext cx="2095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DF"/>
          </a:solidFill>
          <a:ln xmlns:a="http://schemas.openxmlformats.org/drawingml/2006/main" w="14288">
            <a:solidFill>
              <a:srgbClr val="8B9E7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A99919-869F-40C5-B514-912EE26C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143375"/>
            <a:ext cx="2095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DF"/>
          </a:solidFill>
          <a:ln xmlns:a="http://schemas.openxmlformats.org/drawingml/2006/main" w="14288">
            <a:solidFill>
              <a:srgbClr val="8B9E7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Prometheus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3C735E-2E77-4183-B5B5-682D0CDD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143375"/>
            <a:ext cx="2095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DF"/>
          </a:solidFill>
          <a:ln xmlns:a="http://schemas.openxmlformats.org/drawingml/2006/main" w="14288">
            <a:solidFill>
              <a:srgbClr val="8B9E7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Grafana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242D25-C7DD-40CC-B8F6-C64F070C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Frontend requests use /api. The database stays behind an internal Service and a PVC.</a:t>
            </a:r>
          </a:p>
        </p:txBody>
      </p:sp>
    </p:spTree>
    <p:extLst>
      <p:ext uri="{BB962C8B-B14F-4D97-AF65-F5344CB8AC3E}">
        <p14:creationId xmlns:p14="http://schemas.microsoft.com/office/powerpoint/2010/main" val="17264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443065-2253-4647-AFEC-CBF983C6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Tests and booking conflicts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33FE95-67D5-4FF3-85D7-AF8D3365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16 API tests use a separate in-memory database.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4E8085-E037-4912-A89A-802C3183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CRUD, missing records, room capacity and invalid input have coverage.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CB3D08-DF0E-4CE0-AECD-26D929A6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A real PostgreSQL integration check sends simultaneous POST requests.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0F4C6-06DA-49FE-A78E-54F06C2F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One request gets 201. The competing request gets 409.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6FF5B7-297A-4AD2-A549-6E3FAA4F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15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Readiness reports a database failure without breaking the liveness check.</a:t>
            </a:r>
          </a:p>
        </p:txBody>
      </p:sp>
    </p:spTree>
    <p:extLst>
      <p:ext uri="{BB962C8B-B14F-4D97-AF65-F5344CB8AC3E}">
        <p14:creationId xmlns:p14="http://schemas.microsoft.com/office/powerpoint/2010/main" val="7709717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950D77-E980-47B1-A064-DD0A8D7F8B0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20125" y="233362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B64"/>
            </a:solidFill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7CD749-9595-4CD6-B0B5-FE391F2354AC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762625" y="233362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B64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BB6AE4-9337-4140-A643-BB4597C31E7E}"/>
              </a:ext>
            </a:extLst>
          </p:cNvPr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2905125" y="233362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B64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1B06C0-D863-4FE9-9C06-D27132CB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CI/CD and security gates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4E6A49-3E2A-4844-9957-4D4783DB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05000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DF"/>
          </a:solidFill>
          <a:ln xmlns:a="http://schemas.openxmlformats.org/drawingml/2006/main" w="14288">
            <a:solidFill>
              <a:srgbClr val="8B9E7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Tests + audits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39F6A6-8293-42BD-A0F5-05F8C976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905000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DF"/>
          </a:solidFill>
          <a:ln xmlns:a="http://schemas.openxmlformats.org/drawingml/2006/main" w="14288">
            <a:solidFill>
              <a:srgbClr val="8B9E7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Docker + Trivy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256AC-B674-420C-84B1-EC729BD5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05000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DF"/>
          </a:solidFill>
          <a:ln xmlns:a="http://schemas.openxmlformats.org/drawingml/2006/main" w="14288">
            <a:solidFill>
              <a:srgbClr val="8B9E7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GHCR SHA tags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87DE7F-2FB1-4328-8C37-A20ECBF4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05000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DF"/>
          </a:solidFill>
          <a:ln xmlns:a="http://schemas.openxmlformats.org/drawingml/2006/main" w="14288">
            <a:solidFill>
              <a:srgbClr val="8B9E7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Helm deploy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5E66E-BBC2-4059-858B-AC432B2D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Every main-branch push runs the pipeline. A failed test or HIGH/CRITICAL image finding blocks publication.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5DA85B-02F7-4ABD-9994-F520DCE0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687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87B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87B64"/>
                </a:solidFill>
                <a:latin typeface="Arial"/>
                <a:ea typeface="Arial"/>
                <a:cs typeface="Arial"/>
              </a:rPr>
              <a:t>Ruff and Bandit check Python code. Dependency audits and a full-history secret scan run before image promotion.</a:t>
            </a:r>
          </a:p>
        </p:txBody>
      </p:sp>
    </p:spTree>
    <p:extLst>
      <p:ext uri="{BB962C8B-B14F-4D97-AF65-F5344CB8AC3E}">
        <p14:creationId xmlns:p14="http://schemas.microsoft.com/office/powerpoint/2010/main" val="4055611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E7A9A2-9B89-4D26-B1CB-D90CC64A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AWS infrastructure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1E06F-65E7-41DC-BA7C-7477D27A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Terraform creates the VPC and two public subnets in separate zones.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C91D5-FA12-4F99-883B-4ABA9D4E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EKS 1.35 uses two t3.medium workers and EBS CSI storage.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250FD-2D79-4498-8309-FC78F2A0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GitHub OIDC grants temporary access to this project cluster.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7BCB9A-53F4-445F-A837-455A76AB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Initial setup uses cluster access, then deployment access narrows to the app namespace.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F7A45-815B-4D28-A259-24BA2E9A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15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No NAT gateway or RDS instance. Terraform destroy removes the lab.</a:t>
            </a:r>
          </a:p>
        </p:txBody>
      </p:sp>
    </p:spTree>
    <p:extLst>
      <p:ext uri="{BB962C8B-B14F-4D97-AF65-F5344CB8AC3E}">
        <p14:creationId xmlns:p14="http://schemas.microsoft.com/office/powerpoint/2010/main" val="14125526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B67E9-6EAE-40FC-9055-D7D830F4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Kubernetes and GitOps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21B5B-01B2-42BC-ADD1-13151CE3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The Helm chart defines two frontend replicas and a backend HPA.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E7E872-3E66-422B-9B3F-1E4D5925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ClusterIP Services and Ingress route the browser and API requests.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37467A-5274-4C6C-91BE-CEAB1FBA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PostgreSQL uses a PVC. Probes keep unready Pods out of traffic.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E2781F-6CEC-450A-9FAE-C10AB0BB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Argo CD reads the chart and tested image tag from Git.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3AD3E-C08D-47B9-9012-A4D86B0E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15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Automatic sync and self-healing reconcile a Git change or manual drift.</a:t>
            </a:r>
          </a:p>
        </p:txBody>
      </p:sp>
    </p:spTree>
    <p:extLst>
      <p:ext uri="{BB962C8B-B14F-4D97-AF65-F5344CB8AC3E}">
        <p14:creationId xmlns:p14="http://schemas.microsoft.com/office/powerpoint/2010/main" val="3102261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9CFF3A-8A08-4E03-B051-ED5B8492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Observability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4957C0-F71D-4C71-A5F0-FC849E8B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FastAPI exposes request counters and latency histograms at /metrics.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70AA2-D465-4D01-BB3A-0B1547FB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A ServiceMonitor tells Prometheus which backend Pods to scrape.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5C5966-901A-4F81-90B9-9D7DC52D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The Targets page must show the application as 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FFA122-ED63-46B7-904B-0316BBEC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Grafana shows requests, request rate, p95 latency, errors and CPU.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26B54-BE2E-4D55-97C8-C284CEEE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157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Metrics Server supplies CPU readings to the HPA separately.</a:t>
            </a:r>
          </a:p>
        </p:txBody>
      </p:sp>
    </p:spTree>
    <p:extLst>
      <p:ext uri="{BB962C8B-B14F-4D97-AF65-F5344CB8AC3E}">
        <p14:creationId xmlns:p14="http://schemas.microsoft.com/office/powerpoint/2010/main" val="3771071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A68B8-E4B3-4E37-90B4-15EA2495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3423C"/>
                </a:solidFill>
                <a:latin typeface="Arial"/>
                <a:ea typeface="Arial"/>
                <a:cs typeface="Arial"/>
              </a:rPr>
              <a:t>What I learned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09D72E-9C30-4D47-B476-9711516F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A database constraint protects against races that frontend checks miss.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0D4CB7-6EED-4FF0-81B0-4EBE5F0F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Old volumes keep their old database password. Preserve them during tests.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27183-5BE0-486A-BB52-CE977F35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Root credentials cannot assume the lab role. Short-lived OIDC solves deployment access.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12AEB-511C-42C9-91F6-7364C08E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A running Pod does not prove that routing or monitoring works. Check real requests.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967BC4-0E8D-4FC8-A997-1A52BEBB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86325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42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423C"/>
                </a:solidFill>
                <a:latin typeface="Arial"/>
                <a:ea typeface="Arial"/>
                <a:cs typeface="Arial"/>
              </a:rPr>
              <a:t>This is a private classroom demo. Production needs authentication, backups and maintained ingress software.</a:t>
            </a:r>
          </a:p>
        </p:txBody>
      </p:sp>
    </p:spTree>
    <p:extLst>
      <p:ext uri="{BB962C8B-B14F-4D97-AF65-F5344CB8AC3E}">
        <p14:creationId xmlns:p14="http://schemas.microsoft.com/office/powerpoint/2010/main" val="781240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="http://schemas.openxmlformats.org/package/2006/metadata/core-properties" xmlns:dc="http://purl.org/dc/elements/1.1/" xmlns:dcterms="http://purl.org/dc/terms/" xmlns:xsi="http://www.w3.org/2001/XMLSchema-instance">
  <dc:creator/>
  <lastModifiedBy/>
  <dc:title>StudySlot</dc:title>
  <dcterms:created xsi:type="dcterms:W3CDTF">2026-10-16T11:09:44.4420000Z</dcterms:created>
  <dcterms:modified xsi:type="dcterms:W3CDTF">2026-10-16T11:09:44.4420000Z</dcterms:modified>
</coreProperties>
</file>