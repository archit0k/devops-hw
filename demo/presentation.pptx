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33f52d41014909" /><Relationship Type="http://schemas.openxmlformats.org/officeDocument/2006/relationships/extended-properties" Target="/docProps/app.xml" Id="Recd634c326fb4930" /><Relationship Type="http://schemas.openxmlformats.org/officeDocument/2006/relationships/officeDocument" Target="/ppt/presentation.xml" Id="R255ec6ec6581496a" /></Relationships>
</file>

<file path=ppt/presentation.xml><?xml version="1.0" encoding="utf-8"?>
<p:presentation xmlns:p="http://schemas.openxmlformats.org/presentationml/2006/main">
  <p:sldMasterIdLst>
    <p:sldMasterId xmlns:r="http://schemas.openxmlformats.org/officeDocument/2006/relationships" id="2147483648" r:id="R36ac456df21c4542"/>
  </p:sldMasterIdLst>
  <p:notesMasterIdLst>
    <p:notesMasterId xmlns:r="http://schemas.openxmlformats.org/officeDocument/2006/relationships" r:id="Ra5e7a5eaa1144206"/>
  </p:notesMasterIdLst>
  <p:sldIdLst>
    <p:sldId xmlns:r="http://schemas.openxmlformats.org/officeDocument/2006/relationships" id="256" r:id="Rb63c4b926a9d4b92"/>
    <p:sldId xmlns:r="http://schemas.openxmlformats.org/officeDocument/2006/relationships" id="257" r:id="Rf40f9d5bba654d62"/>
    <p:sldId xmlns:r="http://schemas.openxmlformats.org/officeDocument/2006/relationships" id="258" r:id="Rfaaf7380fcea4838"/>
    <p:sldId xmlns:r="http://schemas.openxmlformats.org/officeDocument/2006/relationships" id="259" r:id="R698e9bd9bad946c8"/>
    <p:sldId xmlns:r="http://schemas.openxmlformats.org/officeDocument/2006/relationships" id="260" r:id="R59dd9f02f8214de2"/>
    <p:sldId xmlns:r="http://schemas.openxmlformats.org/officeDocument/2006/relationships" id="261" r:id="Rc237e1c29eab4fa7"/>
    <p:sldId xmlns:r="http://schemas.openxmlformats.org/officeDocument/2006/relationships" id="262" r:id="R270846edc4154291"/>
    <p:sldId xmlns:r="http://schemas.openxmlformats.org/officeDocument/2006/relationships" id="263" r:id="R7b638dca727241dd"/>
    <p:sldId xmlns:r="http://schemas.openxmlformats.org/officeDocument/2006/relationships" id="264" r:id="R189706fc90fd48cb"/>
    <p:sldId xmlns:r="http://schemas.openxmlformats.org/officeDocument/2006/relationships" id="265" r:id="R578205abcd8c49eb"/>
    <p:sldId xmlns:r="http://schemas.openxmlformats.org/officeDocument/2006/relationships" id="266" r:id="R1ec75357b8084127"/>
    <p:sldId xmlns:r="http://schemas.openxmlformats.org/officeDocument/2006/relationships" id="267" r:id="Rb29bcd9d7a6044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da30e0c94f48e9" /><Relationship Type="http://schemas.openxmlformats.org/officeDocument/2006/relationships/slideMaster" Target="/ppt/slideMasters/slideMaster1.xml" Id="R36ac456df21c4542" /><Relationship Type="http://schemas.openxmlformats.org/officeDocument/2006/relationships/notesMaster" Target="/ppt/notesMasters/notesMaster1.xml" Id="Ra5e7a5eaa1144206" /><Relationship Type="http://schemas.openxmlformats.org/officeDocument/2006/relationships/presProps" Target="/ppt/presProps.xml" Id="Rf26f8211ef1c44d7" /><Relationship Type="http://schemas.openxmlformats.org/officeDocument/2006/relationships/tableStyles" Target="/ppt/tableStyles.xml" Id="Rbc84b80d853e4c67" /><Relationship Type="http://schemas.openxmlformats.org/officeDocument/2006/relationships/slide" Target="/ppt/slides/slide1.xml" Id="Rb63c4b926a9d4b92" /><Relationship Type="http://schemas.openxmlformats.org/officeDocument/2006/relationships/slide" Target="/ppt/slides/slide2.xml" Id="Rf40f9d5bba654d62" /><Relationship Type="http://schemas.openxmlformats.org/officeDocument/2006/relationships/slide" Target="/ppt/slides/slide3.xml" Id="Rfaaf7380fcea4838" /><Relationship Type="http://schemas.openxmlformats.org/officeDocument/2006/relationships/slide" Target="/ppt/slides/slide4.xml" Id="R698e9bd9bad946c8" /><Relationship Type="http://schemas.openxmlformats.org/officeDocument/2006/relationships/slide" Target="/ppt/slides/slide5.xml" Id="R59dd9f02f8214de2" /><Relationship Type="http://schemas.openxmlformats.org/officeDocument/2006/relationships/slide" Target="/ppt/slides/slide6.xml" Id="Rc237e1c29eab4fa7" /><Relationship Type="http://schemas.openxmlformats.org/officeDocument/2006/relationships/slide" Target="/ppt/slides/slide7.xml" Id="R270846edc4154291" /><Relationship Type="http://schemas.openxmlformats.org/officeDocument/2006/relationships/slide" Target="/ppt/slides/slide8.xml" Id="R7b638dca727241dd" /><Relationship Type="http://schemas.openxmlformats.org/officeDocument/2006/relationships/slide" Target="/ppt/slides/slide9.xml" Id="R189706fc90fd48cb" /><Relationship Type="http://schemas.openxmlformats.org/officeDocument/2006/relationships/slide" Target="/ppt/slides/slide10.xml" Id="R578205abcd8c49eb" /><Relationship Type="http://schemas.openxmlformats.org/officeDocument/2006/relationships/slide" Target="/ppt/slides/slide11.xml" Id="R1ec75357b8084127" /><Relationship Type="http://schemas.openxmlformats.org/officeDocument/2006/relationships/slide" Target="/ppt/slides/slide12.xml" Id="Rb29bcd9d7a6044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9977a9802e41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dd8747d0b243e1" /><Relationship Type="http://schemas.openxmlformats.org/officeDocument/2006/relationships/notesMaster" Target="/ppt/notesMasters/notesMaster1.xml" Id="R1b672d89047a4f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800af10f8e4687" /><Relationship Type="http://schemas.openxmlformats.org/officeDocument/2006/relationships/notesMaster" Target="/ppt/notesMasters/notesMaster1.xml" Id="R8335a254422549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a352475d6d457c" /><Relationship Type="http://schemas.openxmlformats.org/officeDocument/2006/relationships/notesMaster" Target="/ppt/notesMasters/notesMaster1.xml" Id="Rac892bbabf4a4a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f5ad16a378472c" /><Relationship Type="http://schemas.openxmlformats.org/officeDocument/2006/relationships/notesMaster" Target="/ppt/notesMasters/notesMaster1.xml" Id="R9730d2498c2443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8507288440498a" /><Relationship Type="http://schemas.openxmlformats.org/officeDocument/2006/relationships/notesMaster" Target="/ppt/notesMasters/notesMaster1.xml" Id="R0f40021f555e4b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ba31af571f4026" /><Relationship Type="http://schemas.openxmlformats.org/officeDocument/2006/relationships/notesMaster" Target="/ppt/notesMasters/notesMaster1.xml" Id="R27cb8944832141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0c9cbfe5a04cd5" /><Relationship Type="http://schemas.openxmlformats.org/officeDocument/2006/relationships/notesMaster" Target="/ppt/notesMasters/notesMaster1.xml" Id="Rce00eacea61d45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57b89c41524efd" /><Relationship Type="http://schemas.openxmlformats.org/officeDocument/2006/relationships/notesMaster" Target="/ppt/notesMasters/notesMaster1.xml" Id="R6e22cda7e98a4f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6d3dbdb7e3437e" /><Relationship Type="http://schemas.openxmlformats.org/officeDocument/2006/relationships/notesMaster" Target="/ppt/notesMasters/notesMaster1.xml" Id="Rcc7dce4d33e442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29f9e21bf34d0c" /><Relationship Type="http://schemas.openxmlformats.org/officeDocument/2006/relationships/notesMaster" Target="/ppt/notesMasters/notesMaster1.xml" Id="R3d54413ab7ea46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b7bd794a08405e" /><Relationship Type="http://schemas.openxmlformats.org/officeDocument/2006/relationships/notesMaster" Target="/ppt/notesMasters/notesMaster1.xml" Id="R508647c8e7b049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2321d033704d1b" /><Relationship Type="http://schemas.openxmlformats.org/officeDocument/2006/relationships/notesMaster" Target="/ppt/notesMasters/notesMaster1.xml" Id="Rcd1999470e8445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I'm Archit Kulkarni, roll number 24BCS10194, Section A. This is StudySlot, a study-room booking app. I'll explain the setup briefly, then show the code, deployment and monitoring.</a:t>
            </a:r>
          </a:p>
          <a:p xmlns:a="http://schemas.openxmlformats.org/drawingml/2006/main">
            <a:r>
              <a:t>https://github.com/archit0k/Devops-HW/tree/main/project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student reserves one room for one hour, changes the booking or cancels it. Capacity and duplicate-slot validation give the app a concrete rule to test. Demo data only.</a:t>
            </a:r>
          </a:p>
          <a:p xmlns:a="http://schemas.openxmlformats.org/drawingml/2006/main">
            <a:r>
              <a:t>Project source: https://github.com/archit0k/Devops-HW/tree/main/project</a:t>
            </a:r>
          </a:p>
          <a:p xmlns:a="http://schemas.openxmlformats.org/drawingml/2006/main">
            <a:r>
              <a:t>Rubric: https://github.com/Nency-Ravaliya/devsecops-python/blob/main/GRADING.md</a:t>
            </a:r>
          </a:p>
          <a:p xmlns:a="http://schemas.openxmlformats.org/drawingml/2006/main">
            <a:r>
              <a:t>Screenshot: C:\Users\archi\Github Projects\Devops-HW\project\evidence\rehearsal-20261016\desktop-browser.jpg</a:t>
            </a:r>
          </a:p>
          <a:p xmlns:a="http://schemas.openxmlformats.org/drawingml/2006/main">
            <a:r>
              <a:t>Captured evidence is dated. It does not imply an always-on cloud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uses Ingress. The root route serves React through Nginx. API traffic goes to FastAPI and PostgreSQL. Prometheus scrapes FastAPI independently; Grafana queries Prometheus. PostgreSQL stays internal.</a:t>
            </a:r>
          </a:p>
          <a:p xmlns:a="http://schemas.openxmlformats.org/drawingml/2006/main">
            <a:r>
              <a:t>Project source: https://github.com/archit0k/Devops-HW/tree/main/project</a:t>
            </a:r>
          </a:p>
          <a:p xmlns:a="http://schemas.openxmlformats.org/drawingml/2006/main">
            <a:r>
              <a:t>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React/Vite is the UI. FastAPI handles the API. SQLAlchemy and Alembic manage PostgreSQL. Docker packages the app. GitHub Actions and Trivy check both images. Terraform, Helm, Kubernetes and Argo CD handle infrastructure and deployment.</a:t>
            </a:r>
          </a:p>
          <a:p xmlns:a="http://schemas.openxmlformats.org/drawingml/2006/main">
            <a:r>
              <a:t>Project source: https://github.com/archit0k/Devops-HW/tree/main/project</a:t>
            </a:r>
          </a:p>
          <a:p xmlns:a="http://schemas.openxmlformats.org/drawingml/2006/main">
            <a:r>
              <a:t>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Sixteen API tests use an isolated test database. A separate HTTP integration check uses actual PostgreSQL. Simultaneous POSTs for the same room/date/hour produce one 201 and one 409. The database constraint enforces this even under a race.</a:t>
            </a:r>
          </a:p>
          <a:p xmlns:a="http://schemas.openxmlformats.org/drawingml/2006/main">
            <a:r>
              <a:t>Project source: https://github.com/archit0k/Devops-HW/tree/main/project</a:t>
            </a:r>
          </a:p>
          <a:p xmlns:a="http://schemas.openxmlformats.org/drawingml/2006/main">
            <a:r>
              <a:t>Rubric: https://github.com/Nency-Ravaliya/devsecops-python/blob/main/GRADING.md</a:t>
            </a:r>
          </a:p>
          <a:p xmlns:a="http://schemas.openxmlformats.org/drawingml/2006/main">
            <a:r>
              <a:t>Screenshot: C:\Users\archi\Github Projects\Devops-HW\project\evidence\pytest-output.jpg</a:t>
            </a:r>
          </a:p>
          <a:p xmlns:a="http://schemas.openxmlformats.org/drawingml/2006/main">
            <a:r>
              <a:t>Captured evidence is dated. It does not imply an always-on cloud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main push runs tests, frontend build, audits and a full-history secret scan. Trivy scans both runtime images. HIGH/CRITICAL findings block publication. Full commit-SHA image tags identify the checked builds. Kind verifies the exact images before optional EKS deployment. The pictured six-job run passed during the earlier temporary AWS lab.</a:t>
            </a:r>
          </a:p>
          <a:p xmlns:a="http://schemas.openxmlformats.org/drawingml/2006/main">
            <a:r>
              <a:t>Project source: https://github.com/archit0k/Devops-HW/tree/main/project</a:t>
            </a:r>
          </a:p>
          <a:p xmlns:a="http://schemas.openxmlformats.org/drawingml/2006/main">
            <a:r>
              <a:t>Rubric: https://github.com/Nency-Ravaliya/devsecops-python/blob/main/GRADING.md</a:t>
            </a:r>
          </a:p>
          <a:p xmlns:a="http://schemas.openxmlformats.org/drawingml/2006/main">
            <a:r>
              <a:t>Screenshot: C:\Users\archi\Github Projects\Devops-HW\project\evidence\pipeline-final.jpg</a:t>
            </a:r>
          </a:p>
          <a:p xmlns:a="http://schemas.openxmlformats.org/drawingml/2006/main">
            <a:r>
              <a:t>Captured evidence is dated. It does not imply an always-on cloud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Terraform manages one VPC, two public subnets in separate availability zones, EKS 1.35 with two t3.medium workers and storage/identity/metrics add-ons. The fresh lab has 25 managed resources and reuses an existing GitHub OIDC provider. Short-lived access replaces permanent keys. No NAT gateway, RDS or public application LoadBalancer. The screenshot records a genuine temporary lab.</a:t>
            </a:r>
          </a:p>
          <a:p xmlns:a="http://schemas.openxmlformats.org/drawingml/2006/main">
            <a:r>
              <a:t>Project source: https://github.com/archit0k/Devops-HW/tree/main/project</a:t>
            </a:r>
          </a:p>
          <a:p xmlns:a="http://schemas.openxmlformats.org/drawingml/2006/main">
            <a:r>
              <a:t>Rubric: https://github.com/Nency-Ravaliya/devsecops-python/blob/main/GRADING.md</a:t>
            </a:r>
          </a:p>
          <a:p xmlns:a="http://schemas.openxmlformats.org/drawingml/2006/main">
            <a:r>
              <a:t>Screenshot: C:\Users\archi\Github Projects\Devops-HW\project\evidence\rehearsal-20261016\aws-vpc-map.jpg</a:t>
            </a:r>
          </a:p>
          <a:p xmlns:a="http://schemas.openxmlformats.org/drawingml/2006/main">
            <a:r>
              <a:t>Captured evidence is dated. It does not imply an always-on cloud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deploys two frontend replicas, backend HPA with a two-Pod minimum, internal Services, routing and a PostgreSQL PVC. Readiness probes keep unready Pods out of traffic. This pictured cluster is the local Minikube lab, separate from the AWS EKS checks.</a:t>
            </a:r>
          </a:p>
          <a:p xmlns:a="http://schemas.openxmlformats.org/drawingml/2006/main">
            <a:r>
              <a:t>Project source: https://github.com/archit0k/Devops-HW/tree/main/project</a:t>
            </a:r>
          </a:p>
          <a:p xmlns:a="http://schemas.openxmlformats.org/drawingml/2006/main">
            <a:r>
              <a:t>Rubric: https://github.com/Nency-Ravaliya/devsecops-python/blob/main/GRADING.md</a:t>
            </a:r>
          </a:p>
          <a:p xmlns:a="http://schemas.openxmlformats.org/drawingml/2006/main">
            <a:r>
              <a:t>Screenshot: C:\Users\archi\Github Projects\Devops-HW\project\evidence\kubernetes-pods-services.jpg</a:t>
            </a:r>
          </a:p>
          <a:p xmlns:a="http://schemas.openxmlformats.org/drawingml/2006/main">
            <a:r>
              <a:t>Captured evidence is dated. It does not imply an always-on cloud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Argo CD follows main, the Helm chart and pinned tested local image values. A demoRevision change updates the backend Pod annotation and causes an actual rollout. Automatic sync and self-healing reconcile the desired configuration. The HPA owns backend replica count.</a:t>
            </a:r>
          </a:p>
          <a:p xmlns:a="http://schemas.openxmlformats.org/drawingml/2006/main">
            <a:r>
              <a:t>Project source: https://github.com/archit0k/Devops-HW/tree/main/project</a:t>
            </a:r>
          </a:p>
          <a:p xmlns:a="http://schemas.openxmlformats.org/drawingml/2006/main">
            <a:r>
              <a:t>Rubric: https://github.com/Nency-Ravaliya/devsecops-python/blob/main/GRADING.md</a:t>
            </a:r>
          </a:p>
          <a:p xmlns:a="http://schemas.openxmlformats.org/drawingml/2006/main">
            <a:r>
              <a:t>Screenshot: C:\Users\archi\Github Projects\Devops-HW\project\evidence\rehearsal-20261016\argocd-synced.jpg</a:t>
            </a:r>
          </a:p>
          <a:p xmlns:a="http://schemas.openxmlformats.org/drawingml/2006/main">
            <a:r>
              <a:t>Captured evidence is dated. It does not imply an always-on cloud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exposes application request counters and latency histograms. The ServiceMonitor selects backend Pods. All application scrape targets must be UP with no scrape errors. The HPA allows two to four replicas. Metrics Server separately supplies CPU readings for the HPA.</a:t>
            </a:r>
          </a:p>
          <a:p xmlns:a="http://schemas.openxmlformats.org/drawingml/2006/main">
            <a:r>
              <a:t>Project source: https://github.com/archit0k/Devops-HW/tree/main/project</a:t>
            </a:r>
          </a:p>
          <a:p xmlns:a="http://schemas.openxmlformats.org/drawingml/2006/main">
            <a:r>
              <a:t>Rubric: https://github.com/Nency-Ravaliya/devsecops-python/blob/main/GRADING.md</a:t>
            </a:r>
          </a:p>
          <a:p xmlns:a="http://schemas.openxmlformats.org/drawingml/2006/main">
            <a:r>
              <a:t>Screenshot: C:\Users\archi\Github Projects\Devops-HW\project\evidence\rehearsal-20261016\prometheus-targets.jpg</a:t>
            </a:r>
          </a:p>
          <a:p xmlns:a="http://schemas.openxmlformats.org/drawingml/2006/main">
            <a:r>
              <a:t>Captured evidence is dated. It does not imply an always-on cloud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queries live Prometheus data: target health, HTTP requests/rate, backend replicas, CPU, p95 latency and errors. Real traffic populates the panels. A zero error rate is a valid measurement. Authentication remains enabled for this private local UI.</a:t>
            </a:r>
          </a:p>
          <a:p xmlns:a="http://schemas.openxmlformats.org/drawingml/2006/main">
            <a:r>
              <a:t>Project source: https://github.com/archit0k/Devops-HW/tree/main/project</a:t>
            </a:r>
          </a:p>
          <a:p xmlns:a="http://schemas.openxmlformats.org/drawingml/2006/main">
            <a:r>
              <a:t>Rubric: https://github.com/Nency-Ravaliya/devsecops-python/blob/main/GRADING.md</a:t>
            </a:r>
          </a:p>
          <a:p xmlns:a="http://schemas.openxmlformats.org/drawingml/2006/main">
            <a:r>
              <a:t>Screenshot: C:\Users\archi\Github Projects\Devops-HW\project\evidence\rehearsal-20261016\grafana-live.jpg</a:t>
            </a:r>
          </a:p>
          <a:p xmlns:a="http://schemas.openxmlformats.org/drawingml/2006/main">
            <a:r>
              <a:t>Captured evidence is dated. It does not imply an always-on cloud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Database constraints prevent booking races. Least-privilege deployment access needs an explicit Role for the custom ServiceMonitor resource. A Ready Pod does not prove routing and monitoring, so verify real HTTP requests. The temporary AWS lab is destroyed after recording. The classroom app still lacks authentication, TLS, automated backups and a highly available database.</a:t>
            </a:r>
          </a:p>
          <a:p xmlns:a="http://schemas.openxmlformats.org/drawingml/2006/main">
            <a:r>
              <a:t>Project source: https://github.com/archit0k/Devops-HW/tree/main/project</a:t>
            </a:r>
          </a:p>
          <a:p xmlns:a="http://schemas.openxmlformats.org/drawingml/2006/main">
            <a:r>
              <a:t>Rubric: https://github.com/Nency-Ravaliya/devsecops-python/blob/main/GRADING.md</a:t>
            </a:r>
          </a:p>
          <a:p xmlns:a="http://schemas.openxmlformats.org/drawingml/2006/main">
            <a:r>
              <a:t>Screenshot: C:\Users\archi\Github Projects\Devops-HW\project\evidence\cloud-cleanup-output.jpg</a:t>
            </a:r>
          </a:p>
          <a:p xmlns:a="http://schemas.openxmlformats.org/drawingml/2006/main">
            <a:r>
              <a:t>Captured evidence is dated. It does not imply an always-on cloud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ad1990d7864d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4d77e0ca724c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63f335f12a45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77a33aea8a475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53cd80e24d4e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12b942c1a14b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D9CE72-62EF-46CC-A6ED-AFCB6F26A81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202F97-809D-4444-9436-D530B4AC14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92387E8-04C1-4FD4-9DCA-DF2CA3D154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697BC4-A710-4478-B8EB-44216B3AD3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FE6F329-09A0-47C1-8A25-4E873467816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071AD2-E1C8-4D24-B8CE-F6B31614C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90B5B9-F8D1-4BE8-8426-BE0C7F9E38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4AE638-8C61-4624-BBF7-6865D2A7B6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5046E0-5608-4FAB-B406-EA3F50EF50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7F88D4-BEE2-4E88-97AA-9E126F02F6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44209bccb74efc" /><Relationship Type="http://schemas.openxmlformats.org/officeDocument/2006/relationships/slideLayout" Target="/ppt/slideLayouts/slideLayout1.xml" Id="Rc0eef5061bdb48de" /><Relationship Type="http://schemas.openxmlformats.org/officeDocument/2006/relationships/slideLayout" Target="/ppt/slideLayouts/slideLayout2.xml" Id="R403fd1be12594bc7" /><Relationship Type="http://schemas.openxmlformats.org/officeDocument/2006/relationships/slideLayout" Target="/ppt/slideLayouts/slideLayout3.xml" Id="R3e75766368ac4ee1" /><Relationship Type="http://schemas.openxmlformats.org/officeDocument/2006/relationships/slideLayout" Target="/ppt/slideLayouts/slideLayout4.xml" Id="R573a7862410842de" /><Relationship Type="http://schemas.openxmlformats.org/officeDocument/2006/relationships/slideLayout" Target="/ppt/slideLayouts/slideLayout5.xml" Id="Rc51bca755e7e4954" /><Relationship Type="http://schemas.openxmlformats.org/officeDocument/2006/relationships/slideLayout" Target="/ppt/slideLayouts/slideLayout6.xml" Id="R59c683a0bc994a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eef5061bdb48de"/>
    <p:sldLayoutId xmlns:r="http://schemas.openxmlformats.org/officeDocument/2006/relationships" id="2147483650" r:id="R403fd1be12594bc7"/>
    <p:sldLayoutId xmlns:r="http://schemas.openxmlformats.org/officeDocument/2006/relationships" id="2147483651" r:id="R3e75766368ac4ee1"/>
    <p:sldLayoutId xmlns:r="http://schemas.openxmlformats.org/officeDocument/2006/relationships" id="2147483652" r:id="R573a7862410842de"/>
    <p:sldLayoutId xmlns:r="http://schemas.openxmlformats.org/officeDocument/2006/relationships" id="2147483653" r:id="Rc51bca755e7e4954"/>
    <p:sldLayoutId xmlns:r="http://schemas.openxmlformats.org/officeDocument/2006/relationships" id="2147483654" r:id="R59c683a0bc994a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b70f520edd4c75" /><Relationship Type="http://schemas.openxmlformats.org/officeDocument/2006/relationships/notesSlide" Target="/ppt/notesSlides/notesSlide1.xml" Id="Rece1019c37ec48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729090d2c149b5" /><Relationship Type="http://schemas.openxmlformats.org/officeDocument/2006/relationships/image" Target="/ppt/media/image.jpeg" Id="R95f40028a0474aac" /><Relationship Type="http://schemas.openxmlformats.org/officeDocument/2006/relationships/notesSlide" Target="/ppt/notesSlides/notesSlide2.xml" Id="R724a2728f11b46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dac9d35e944114" /><Relationship Type="http://schemas.openxmlformats.org/officeDocument/2006/relationships/notesSlide" Target="/ppt/notesSlides/notesSlide3.xml" Id="R5ea9a42d81e440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7fac569d18478d" /><Relationship Type="http://schemas.openxmlformats.org/officeDocument/2006/relationships/notesSlide" Target="/ppt/notesSlides/notesSlide4.xml" Id="Rd832d6611ea14f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e3230e9b434bb9" /><Relationship Type="http://schemas.openxmlformats.org/officeDocument/2006/relationships/image" Target="/ppt/media/image2.jpeg" Id="R6c519192f98c4f20" /><Relationship Type="http://schemas.openxmlformats.org/officeDocument/2006/relationships/notesSlide" Target="/ppt/notesSlides/notesSlide5.xml" Id="Rc261203d28d54d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07481fe020465b" /><Relationship Type="http://schemas.openxmlformats.org/officeDocument/2006/relationships/image" Target="/ppt/media/image3.jpeg" Id="R9bae3031e0c14a2a" /><Relationship Type="http://schemas.openxmlformats.org/officeDocument/2006/relationships/notesSlide" Target="/ppt/notesSlides/notesSlide6.xml" Id="Ra8f5914ca85e43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3744e3a680c4d24" /><Relationship Type="http://schemas.openxmlformats.org/officeDocument/2006/relationships/image" Target="/ppt/media/image4.jpeg" Id="Rf84dd5bf2c554897" /><Relationship Type="http://schemas.openxmlformats.org/officeDocument/2006/relationships/notesSlide" Target="/ppt/notesSlides/notesSlide7.xml" Id="R4ebb27f61e3d4e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221812f4f049d0" /><Relationship Type="http://schemas.openxmlformats.org/officeDocument/2006/relationships/image" Target="/ppt/media/image5.jpeg" Id="Rd5b57156a2564dce" /><Relationship Type="http://schemas.openxmlformats.org/officeDocument/2006/relationships/notesSlide" Target="/ppt/notesSlides/notesSlide8.xml" Id="Re30c6ae498bf40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701393a3624cd9" /><Relationship Type="http://schemas.openxmlformats.org/officeDocument/2006/relationships/image" Target="/ppt/media/image6.jpeg" Id="Rd1e10994271e40b9" /><Relationship Type="http://schemas.openxmlformats.org/officeDocument/2006/relationships/notesSlide" Target="/ppt/notesSlides/notesSlide9.xml" Id="Rf3247499095b46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859fa711e94885" /><Relationship Type="http://schemas.openxmlformats.org/officeDocument/2006/relationships/image" Target="/ppt/media/image7.jpeg" Id="Rfb637aaa32cc41db" /><Relationship Type="http://schemas.openxmlformats.org/officeDocument/2006/relationships/notesSlide" Target="/ppt/notesSlides/notesSlide10.xml" Id="R62be572e90f64e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3fda3df24124601" /><Relationship Type="http://schemas.openxmlformats.org/officeDocument/2006/relationships/image" Target="/ppt/media/image8.jpeg" Id="R459a21dadb5c4864" /><Relationship Type="http://schemas.openxmlformats.org/officeDocument/2006/relationships/notesSlide" Target="/ppt/notesSlides/notesSlide11.xml" Id="Rb6bfecc562a24c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70b128385824beb" /><Relationship Type="http://schemas.openxmlformats.org/officeDocument/2006/relationships/image" Target="/ppt/media/image9.jpeg" Id="Rb2be7e04909f4908" /><Relationship Type="http://schemas.openxmlformats.org/officeDocument/2006/relationships/notesSlide" Target="/ppt/notesSlides/notesSlide12.xml" Id="R6f6a9b3651894fb6" /></Relationships>
</file>

<file path=ppt/slides/slide1.xml><?xml version="1.0" encoding="utf-8"?>
<p:sld xmlns:p="http://schemas.openxmlformats.org/presentationml/2006/main">
  <p:cSld>
    <p:bg>
      <p:bgPr>
        <a:solidFill xmlns:a="http://schemas.openxmlformats.org/drawingml/2006/main">
          <a:srgbClr val="163D3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F70648-4A4C-481F-9538-771D1FC916ED}"/>
              </a:ext>
            </a:extLst>
          </p:cNvPr>
          <p:cNvSpPr>
            <a:spLocks xmlns:a="http://schemas.openxmlformats.org/drawingml/2006/main" noGrp="1"/>
          </p:cNvSpPr>
          <p:nvPr/>
        </p:nvSpPr>
        <p:spPr>
          <a:xfrm xmlns:a="http://schemas.openxmlformats.org/drawingml/2006/main">
            <a:off x="609600" y="123825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850" b="1">
                <a:solidFill>
                  <a:srgbClr val="FFFFFF"/>
                </a:solidFill>
                <a:latin typeface="Arial"/>
                <a:ea typeface="Arial"/>
                <a:cs typeface="Arial"/>
              </a:defRPr>
            </a:defPPr>
          </a:lstStyle>
          <a:p xmlns:a="http://schemas.openxmlformats.org/drawingml/2006/main">
            <a:pPr>
              <a:defRPr sz="8850" b="1">
                <a:solidFill>
                  <a:srgbClr val="FFFFFF"/>
                </a:solidFill>
                <a:latin typeface="Arial"/>
                <a:ea typeface="Arial"/>
                <a:cs typeface="Arial"/>
              </a:defRPr>
            </a:pPr>
            <a:r>
              <a:rPr sz="8850" b="1">
                <a:solidFill>
                  <a:srgbClr val="FFFFFF"/>
                </a:solidFill>
                <a:latin typeface="Arial"/>
                <a:ea typeface="Arial"/>
                <a:cs typeface="Arial"/>
              </a:rPr>
              <a:t>StudySlot</a:t>
            </a:r>
          </a:p>
        </p:txBody>
      </p:sp>
      <p:sp>
        <p:nvSpPr>
          <p:cNvPr id="2" name="">
            <a:extLst xmlns:a="http://schemas.openxmlformats.org/drawingml/2006/main">
              <a:ext uri="{FF2B5EF4-FFF2-40B4-BE49-F238E27FC236}">
                <a16:creationId xmlns:a16="http://schemas.microsoft.com/office/drawing/2014/main" id="{C0918481-BB83-41F1-879F-DA448F589C14}"/>
              </a:ext>
            </a:extLst>
          </p:cNvPr>
          <p:cNvSpPr>
            <a:spLocks xmlns:a="http://schemas.openxmlformats.org/drawingml/2006/main" noGrp="1"/>
          </p:cNvSpPr>
          <p:nvPr/>
        </p:nvSpPr>
        <p:spPr>
          <a:xfrm xmlns:a="http://schemas.openxmlformats.org/drawingml/2006/main">
            <a:off x="666750" y="2857500"/>
            <a:ext cx="1019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DEE9DC"/>
                </a:solidFill>
                <a:latin typeface="Arial"/>
                <a:ea typeface="Arial"/>
                <a:cs typeface="Arial"/>
              </a:defRPr>
            </a:defPPr>
          </a:lstStyle>
          <a:p xmlns:a="http://schemas.openxmlformats.org/drawingml/2006/main">
            <a:pPr>
              <a:defRPr sz="3150" b="0">
                <a:solidFill>
                  <a:srgbClr val="DEE9DC"/>
                </a:solidFill>
                <a:latin typeface="Arial"/>
                <a:ea typeface="Arial"/>
                <a:cs typeface="Arial"/>
              </a:defRPr>
            </a:pPr>
            <a:r>
              <a:rPr sz="3150" b="0">
                <a:solidFill>
                  <a:srgbClr val="DEE9DC"/>
                </a:solidFill>
                <a:latin typeface="Arial"/>
                <a:ea typeface="Arial"/>
                <a:cs typeface="Arial"/>
              </a:rPr>
              <a:t>Study-room bookings</a:t>
            </a:r>
          </a:p>
        </p:txBody>
      </p:sp>
      <p:sp>
        <p:nvSpPr>
          <p:cNvPr id="3" name="">
            <a:extLst xmlns:a="http://schemas.openxmlformats.org/drawingml/2006/main">
              <a:ext uri="{FF2B5EF4-FFF2-40B4-BE49-F238E27FC236}">
                <a16:creationId xmlns:a16="http://schemas.microsoft.com/office/drawing/2014/main" id="{72379455-17BB-4BA8-868E-E1AD69BE0409}"/>
              </a:ext>
            </a:extLst>
          </p:cNvPr>
          <p:cNvSpPr>
            <a:spLocks xmlns:a="http://schemas.openxmlformats.org/drawingml/2006/main" noGrp="1"/>
          </p:cNvSpPr>
          <p:nvPr/>
        </p:nvSpPr>
        <p:spPr>
          <a:xfrm xmlns:a="http://schemas.openxmlformats.org/drawingml/2006/main">
            <a:off x="685800" y="35814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EE9DC"/>
                </a:solidFill>
                <a:latin typeface="Arial"/>
                <a:ea typeface="Arial"/>
                <a:cs typeface="Arial"/>
              </a:defRPr>
            </a:defPPr>
          </a:lstStyle>
          <a:p xmlns:a="http://schemas.openxmlformats.org/drawingml/2006/main">
            <a:pPr>
              <a:defRPr sz="2100" b="0">
                <a:solidFill>
                  <a:srgbClr val="DEE9DC"/>
                </a:solidFill>
                <a:latin typeface="Arial"/>
                <a:ea typeface="Arial"/>
                <a:cs typeface="Arial"/>
              </a:defRPr>
            </a:pPr>
            <a:r>
              <a:rPr sz="2100" b="0">
                <a:solidFill>
                  <a:srgbClr val="DEE9DC"/>
                </a:solidFill>
                <a:latin typeface="Arial"/>
                <a:ea typeface="Arial"/>
                <a:cs typeface="Arial"/>
              </a:rPr>
              <a:t>DevOps capstone</a:t>
            </a:r>
          </a:p>
        </p:txBody>
      </p:sp>
      <p:sp>
        <p:nvSpPr>
          <p:cNvPr id="4" name="">
            <a:extLst xmlns:a="http://schemas.openxmlformats.org/drawingml/2006/main">
              <a:ext uri="{FF2B5EF4-FFF2-40B4-BE49-F238E27FC236}">
                <a16:creationId xmlns:a16="http://schemas.microsoft.com/office/drawing/2014/main" id="{10D30BF2-2F33-4341-BEC7-1B07CBCDDEDD}"/>
              </a:ext>
            </a:extLst>
          </p:cNvPr>
          <p:cNvSpPr>
            <a:spLocks xmlns:a="http://schemas.openxmlformats.org/drawingml/2006/main" noGrp="1"/>
          </p:cNvSpPr>
          <p:nvPr/>
        </p:nvSpPr>
        <p:spPr>
          <a:xfrm xmlns:a="http://schemas.openxmlformats.org/drawingml/2006/main">
            <a:off x="685800" y="53149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FFFFF"/>
                </a:solidFill>
                <a:latin typeface="Arial"/>
                <a:ea typeface="Arial"/>
                <a:cs typeface="Arial"/>
              </a:defRPr>
            </a:def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Archit Kulkarni</a:t>
            </a:r>
          </a:p>
        </p:txBody>
      </p:sp>
      <p:sp>
        <p:nvSpPr>
          <p:cNvPr id="5" name="">
            <a:extLst xmlns:a="http://schemas.openxmlformats.org/drawingml/2006/main">
              <a:ext uri="{FF2B5EF4-FFF2-40B4-BE49-F238E27FC236}">
                <a16:creationId xmlns:a16="http://schemas.microsoft.com/office/drawing/2014/main" id="{C2657E7A-A46F-45DC-8CF6-50B416CE2827}"/>
              </a:ext>
            </a:extLst>
          </p:cNvPr>
          <p:cNvSpPr>
            <a:spLocks xmlns:a="http://schemas.openxmlformats.org/drawingml/2006/main" noGrp="1"/>
          </p:cNvSpPr>
          <p:nvPr/>
        </p:nvSpPr>
        <p:spPr>
          <a:xfrm xmlns:a="http://schemas.openxmlformats.org/drawingml/2006/main">
            <a:off x="704850" y="58102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EE9DC"/>
                </a:solidFill>
                <a:latin typeface="Arial"/>
                <a:ea typeface="Arial"/>
                <a:cs typeface="Arial"/>
              </a:defRPr>
            </a:defPPr>
          </a:lstStyle>
          <a:p xmlns:a="http://schemas.openxmlformats.org/drawingml/2006/main">
            <a:pPr>
              <a:defRPr sz="1875" b="0">
                <a:solidFill>
                  <a:srgbClr val="DEE9DC"/>
                </a:solidFill>
                <a:latin typeface="Arial"/>
                <a:ea typeface="Arial"/>
                <a:cs typeface="Arial"/>
              </a:defRPr>
            </a:pPr>
            <a:r>
              <a:rPr sz="1875" b="0">
                <a:solidFill>
                  <a:srgbClr val="DEE9DC"/>
                </a:solidFill>
                <a:latin typeface="Arial"/>
                <a:ea typeface="Arial"/>
                <a:cs typeface="Arial"/>
              </a:rPr>
              <a:t>24BCS10194   Section A</a:t>
            </a:r>
          </a:p>
        </p:txBody>
      </p:sp>
    </p:spTree>
    <p:extLst>
      <p:ext uri="{BB962C8B-B14F-4D97-AF65-F5344CB8AC3E}">
        <p14:creationId xmlns:p14="http://schemas.microsoft.com/office/powerpoint/2010/main" val="1651325804"/>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7B6FAC-709D-4A31-81D1-4A2B8DA53110}"/>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The booking app</a:t>
            </a:r>
          </a:p>
        </p:txBody>
      </p:sp>
      <p:sp>
        <p:nvSpPr>
          <p:cNvPr id="2" name="">
            <a:extLst xmlns:a="http://schemas.openxmlformats.org/drawingml/2006/main">
              <a:ext uri="{FF2B5EF4-FFF2-40B4-BE49-F238E27FC236}">
                <a16:creationId xmlns:a16="http://schemas.microsoft.com/office/drawing/2014/main" id="{61E78AC2-A551-4D08-9687-6D210EEC9AC5}"/>
              </a:ext>
            </a:extLst>
          </p:cNvPr>
          <p:cNvSpPr>
            <a:spLocks xmlns:a="http://schemas.openxmlformats.org/drawingml/2006/main" noGrp="1"/>
          </p:cNvSpPr>
          <p:nvPr/>
        </p:nvSpPr>
        <p:spPr>
          <a:xfrm xmlns:a="http://schemas.openxmlformats.org/drawingml/2006/main">
            <a:off x="609600" y="1600200"/>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63D38"/>
                </a:solidFill>
                <a:latin typeface="Arial"/>
                <a:ea typeface="Arial"/>
                <a:cs typeface="Arial"/>
              </a:defRPr>
            </a:defPPr>
          </a:lstStyle>
          <a:p xmlns:a="http://schemas.openxmlformats.org/drawingml/2006/main">
            <a:pPr>
              <a:defRPr sz="3750" b="1">
                <a:solidFill>
                  <a:srgbClr val="163D38"/>
                </a:solidFill>
                <a:latin typeface="Arial"/>
                <a:ea typeface="Arial"/>
                <a:cs typeface="Arial"/>
              </a:defRPr>
            </a:pPr>
            <a:r>
              <a:rPr sz="3750" b="1">
                <a:solidFill>
                  <a:srgbClr val="163D38"/>
                </a:solidFill>
                <a:latin typeface="Arial"/>
                <a:ea typeface="Arial"/>
                <a:cs typeface="Arial"/>
              </a:rPr>
              <a:t>A room for</a:t>
            </a:r>
          </a:p>
          <a:p xmlns:a="http://schemas.openxmlformats.org/drawingml/2006/main">
            <a:pPr>
              <a:defRPr sz="3750" b="1">
                <a:solidFill>
                  <a:srgbClr val="163D38"/>
                </a:solidFill>
                <a:latin typeface="Arial"/>
                <a:ea typeface="Arial"/>
                <a:cs typeface="Arial"/>
              </a:defRPr>
            </a:pPr>
            <a:r>
              <a:rPr sz="3750" b="1">
                <a:solidFill>
                  <a:srgbClr val="163D38"/>
                </a:solidFill>
                <a:latin typeface="Arial"/>
                <a:ea typeface="Arial"/>
                <a:cs typeface="Arial"/>
              </a:rPr>
              <a:t>one hour</a:t>
            </a:r>
          </a:p>
        </p:txBody>
      </p:sp>
      <p:sp>
        <p:nvSpPr>
          <p:cNvPr id="3" name="">
            <a:extLst xmlns:a="http://schemas.openxmlformats.org/drawingml/2006/main">
              <a:ext uri="{FF2B5EF4-FFF2-40B4-BE49-F238E27FC236}">
                <a16:creationId xmlns:a16="http://schemas.microsoft.com/office/drawing/2014/main" id="{2E88EB7A-B997-4189-88FF-0215D32716C6}"/>
              </a:ext>
            </a:extLst>
          </p:cNvPr>
          <p:cNvSpPr>
            <a:spLocks xmlns:a="http://schemas.openxmlformats.org/drawingml/2006/main" noGrp="1"/>
          </p:cNvSpPr>
          <p:nvPr/>
        </p:nvSpPr>
        <p:spPr>
          <a:xfrm xmlns:a="http://schemas.openxmlformats.org/drawingml/2006/main">
            <a:off x="647700" y="3143250"/>
            <a:ext cx="314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963"/>
                </a:solidFill>
                <a:latin typeface="Arial"/>
                <a:ea typeface="Arial"/>
                <a:cs typeface="Arial"/>
              </a:defRPr>
            </a:defPPr>
          </a:lstStyle>
          <a:p xmlns:a="http://schemas.openxmlformats.org/drawingml/2006/main">
            <a:pPr>
              <a:defRPr sz="2175" b="0">
                <a:solidFill>
                  <a:srgbClr val="526963"/>
                </a:solidFill>
                <a:latin typeface="Arial"/>
                <a:ea typeface="Arial"/>
                <a:cs typeface="Arial"/>
              </a:defRPr>
            </a:pPr>
            <a:r>
              <a:rPr sz="2175" b="0">
                <a:solidFill>
                  <a:srgbClr val="526963"/>
                </a:solidFill>
                <a:latin typeface="Arial"/>
                <a:ea typeface="Arial"/>
                <a:cs typeface="Arial"/>
              </a:rPr>
              <a:t>Book an available slot.</a:t>
            </a:r>
          </a:p>
          <a:p xmlns:a="http://schemas.openxmlformats.org/drawingml/2006/main">
            <a:pPr>
              <a:defRPr sz="2175" b="0">
                <a:solidFill>
                  <a:srgbClr val="526963"/>
                </a:solidFill>
                <a:latin typeface="Arial"/>
                <a:ea typeface="Arial"/>
                <a:cs typeface="Arial"/>
              </a:defRPr>
            </a:pPr>
            <a:r>
              <a:rPr sz="2175" b="0">
                <a:solidFill>
                  <a:srgbClr val="526963"/>
                </a:solidFill>
                <a:latin typeface="Arial"/>
                <a:ea typeface="Arial"/>
                <a:cs typeface="Arial"/>
              </a:rPr>
              <a:t>Change or cancel it later.</a:t>
            </a:r>
          </a:p>
        </p:txBody>
      </p:sp>
      <p:sp>
        <p:nvSpPr>
          <p:cNvPr id="4" name="">
            <a:extLst xmlns:a="http://schemas.openxmlformats.org/drawingml/2006/main">
              <a:ext uri="{FF2B5EF4-FFF2-40B4-BE49-F238E27FC236}">
                <a16:creationId xmlns:a16="http://schemas.microsoft.com/office/drawing/2014/main" id="{00DC64B2-DFE1-4CF9-994A-09A3DCD28260}"/>
              </a:ext>
            </a:extLst>
          </p:cNvPr>
          <p:cNvSpPr>
            <a:spLocks xmlns:a="http://schemas.openxmlformats.org/drawingml/2006/main" noGrp="1"/>
          </p:cNvSpPr>
          <p:nvPr/>
        </p:nvSpPr>
        <p:spPr>
          <a:xfrm xmlns:a="http://schemas.openxmlformats.org/drawingml/2006/main">
            <a:off x="647700" y="48958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3D38"/>
                </a:solidFill>
                <a:latin typeface="Arial"/>
                <a:ea typeface="Arial"/>
                <a:cs typeface="Arial"/>
              </a:defRPr>
            </a:defPPr>
          </a:lstStyle>
          <a:p xmlns:a="http://schemas.openxmlformats.org/drawingml/2006/main">
            <a:pPr>
              <a:defRPr sz="1875" b="0">
                <a:solidFill>
                  <a:srgbClr val="163D38"/>
                </a:solidFill>
                <a:latin typeface="Arial"/>
                <a:ea typeface="Arial"/>
                <a:cs typeface="Arial"/>
              </a:defRPr>
            </a:pPr>
            <a:r>
              <a:rPr sz="1875" b="0">
                <a:solidFill>
                  <a:srgbClr val="163D38"/>
                </a:solidFill>
                <a:latin typeface="Arial"/>
                <a:ea typeface="Arial"/>
                <a:cs typeface="Arial"/>
              </a:rPr>
              <a:t>Room-capacity checks</a:t>
            </a:r>
          </a:p>
          <a:p xmlns:a="http://schemas.openxmlformats.org/drawingml/2006/main">
            <a:pPr>
              <a:defRPr sz="1875" b="0">
                <a:solidFill>
                  <a:srgbClr val="163D38"/>
                </a:solidFill>
                <a:latin typeface="Arial"/>
                <a:ea typeface="Arial"/>
                <a:cs typeface="Arial"/>
              </a:defRPr>
            </a:pPr>
            <a:r>
              <a:rPr sz="1875" b="0">
                <a:solidFill>
                  <a:srgbClr val="163D38"/>
                </a:solidFill>
                <a:latin typeface="Arial"/>
                <a:ea typeface="Arial"/>
                <a:cs typeface="Arial"/>
              </a:rPr>
              <a:t>Duplicate-slot protection</a:t>
            </a:r>
          </a:p>
        </p:txBody>
      </p:sp>
      <p:pic>
        <p:nvPicPr>
          <p:cNvPr id="5" name="">
            <a:extLst xmlns:a="http://schemas.openxmlformats.org/drawingml/2006/main">
              <a:ext uri="{FF2B5EF4-FFF2-40B4-BE49-F238E27FC236}">
                <a16:creationId xmlns:a16="http://schemas.microsoft.com/office/drawing/2014/main" id="{5539C2CD-2A08-43B6-A1C7-882A6EF9C239}"/>
              </a:ext>
            </a:extLst>
          </p:cNvPr>
          <p:cNvPicPr>
            <a:picLocks xmlns:a="http://schemas.openxmlformats.org/drawingml/2006/main" noChangeAspect="1"/>
          </p:cNvPicPr>
          <p:nvPr/>
        </p:nvPicPr>
        <p:blipFill>
          <a:blip xmlns:r="http://schemas.openxmlformats.org/officeDocument/2006/relationships" xmlns:a="http://schemas.openxmlformats.org/drawingml/2006/main" r:embed="R95f40028a0474aac"/>
          <a:stretch xmlns:a="http://schemas.openxmlformats.org/drawingml/2006/main"/>
        </p:blipFill>
        <p:spPr>
          <a:xfrm xmlns:a="http://schemas.openxmlformats.org/drawingml/2006/main">
            <a:off x="5086862" y="1276350"/>
            <a:ext cx="5542527" cy="5143500"/>
          </a:xfrm>
          <a:prstGeom xmlns:a="http://schemas.openxmlformats.org/drawingml/2006/main" prst="rect">
            <a:avLst/>
          </a:prstGeom>
        </p:spPr>
      </p:pic>
    </p:spTree>
    <p:extLst>
      <p:ext uri="{BB962C8B-B14F-4D97-AF65-F5344CB8AC3E}">
        <p14:creationId xmlns:p14="http://schemas.microsoft.com/office/powerpoint/2010/main" val="1323773496"/>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0572795-031E-48A3-B342-F8E37DE8883B}"/>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91FBB009-5E91-40B5-9BCA-AC426CF28FE9}"/>
              </a:ext>
            </a:extLst>
          </p:cNvPr>
          <p:cNvSpPr>
            <a:spLocks xmlns:a="http://schemas.openxmlformats.org/drawingml/2006/main" noGrp="1"/>
          </p:cNvSpPr>
          <p:nvPr/>
        </p:nvSpPr>
        <p:spPr>
          <a:xfrm xmlns:a="http://schemas.openxmlformats.org/drawingml/2006/main">
            <a:off x="609600" y="16764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D76F3E"/>
                </a:solidFill>
                <a:latin typeface="Arial"/>
                <a:ea typeface="Arial"/>
                <a:cs typeface="Arial"/>
              </a:defRPr>
            </a:defPPr>
          </a:lstStyle>
          <a:p xmlns:a="http://schemas.openxmlformats.org/drawingml/2006/main">
            <a:pPr>
              <a:defRPr sz="3300" b="1">
                <a:solidFill>
                  <a:srgbClr val="D76F3E"/>
                </a:solidFill>
                <a:latin typeface="Arial"/>
                <a:ea typeface="Arial"/>
                <a:cs typeface="Arial"/>
              </a:defRPr>
            </a:pPr>
            <a:r>
              <a:rPr sz="3300" b="1">
                <a:solidFill>
                  <a:srgbClr val="D76F3E"/>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7F53644-43BC-4476-903D-03583C4A2D89}"/>
              </a:ext>
            </a:extLst>
          </p:cNvPr>
          <p:cNvSpPr>
            <a:spLocks xmlns:a="http://schemas.openxmlformats.org/drawingml/2006/main" noGrp="1"/>
          </p:cNvSpPr>
          <p:nvPr/>
        </p:nvSpPr>
        <p:spPr>
          <a:xfrm xmlns:a="http://schemas.openxmlformats.org/drawingml/2006/main">
            <a:off x="609600" y="2381250"/>
            <a:ext cx="2343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3D38"/>
                </a:solidFill>
                <a:latin typeface="Arial"/>
                <a:ea typeface="Arial"/>
                <a:cs typeface="Arial"/>
              </a:defRPr>
            </a:defPPr>
          </a:lstStyle>
          <a:p xmlns:a="http://schemas.openxmlformats.org/drawingml/2006/main">
            <a:pPr>
              <a:defRPr sz="2325" b="1">
                <a:solidFill>
                  <a:srgbClr val="163D38"/>
                </a:solidFill>
                <a:latin typeface="Arial"/>
                <a:ea typeface="Arial"/>
                <a:cs typeface="Arial"/>
              </a:defRPr>
            </a:pPr>
            <a:r>
              <a:rPr sz="2325" b="1">
                <a:solidFill>
                  <a:srgbClr val="163D38"/>
                </a:solidFill>
                <a:latin typeface="Arial"/>
                <a:ea typeface="Arial"/>
                <a:cs typeface="Arial"/>
              </a:rPr>
              <a:t>Browser</a:t>
            </a:r>
          </a:p>
        </p:txBody>
      </p:sp>
      <p:sp>
        <p:nvSpPr>
          <p:cNvPr id="4" name="">
            <a:extLst xmlns:a="http://schemas.openxmlformats.org/drawingml/2006/main">
              <a:ext uri="{FF2B5EF4-FFF2-40B4-BE49-F238E27FC236}">
                <a16:creationId xmlns:a16="http://schemas.microsoft.com/office/drawing/2014/main" id="{D7DC18F9-748D-4A20-9E47-92CE3F09317A}"/>
              </a:ext>
            </a:extLst>
          </p:cNvPr>
          <p:cNvSpPr>
            <a:spLocks xmlns:a="http://schemas.openxmlformats.org/drawingml/2006/main" noGrp="1"/>
          </p:cNvSpPr>
          <p:nvPr/>
        </p:nvSpPr>
        <p:spPr>
          <a:xfrm xmlns:a="http://schemas.openxmlformats.org/drawingml/2006/main">
            <a:off x="609600" y="3152775"/>
            <a:ext cx="23431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963"/>
                </a:solidFill>
                <a:latin typeface="Arial"/>
                <a:ea typeface="Arial"/>
                <a:cs typeface="Arial"/>
              </a:defRPr>
            </a:defPPr>
          </a:lstStyle>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User interaction</a:t>
            </a:r>
          </a:p>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localhost:3000</a:t>
            </a:r>
          </a:p>
        </p:txBody>
      </p:sp>
      <p:sp>
        <p:nvSpPr>
          <p:cNvPr id="5" name="">
            <a:extLst xmlns:a="http://schemas.openxmlformats.org/drawingml/2006/main">
              <a:ext uri="{FF2B5EF4-FFF2-40B4-BE49-F238E27FC236}">
                <a16:creationId xmlns:a16="http://schemas.microsoft.com/office/drawing/2014/main" id="{8717C288-E221-4B50-AF97-CB80A9F7A4E9}"/>
              </a:ext>
            </a:extLst>
          </p:cNvPr>
          <p:cNvSpPr>
            <a:spLocks xmlns:a="http://schemas.openxmlformats.org/drawingml/2006/main" noGrp="1"/>
          </p:cNvSpPr>
          <p:nvPr/>
        </p:nvSpPr>
        <p:spPr>
          <a:xfrm xmlns:a="http://schemas.openxmlformats.org/drawingml/2006/main">
            <a:off x="3476625" y="16764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D76F3E"/>
                </a:solidFill>
                <a:latin typeface="Arial"/>
                <a:ea typeface="Arial"/>
                <a:cs typeface="Arial"/>
              </a:defRPr>
            </a:defPPr>
          </a:lstStyle>
          <a:p xmlns:a="http://schemas.openxmlformats.org/drawingml/2006/main">
            <a:pPr>
              <a:defRPr sz="3300" b="1">
                <a:solidFill>
                  <a:srgbClr val="D76F3E"/>
                </a:solidFill>
                <a:latin typeface="Arial"/>
                <a:ea typeface="Arial"/>
                <a:cs typeface="Arial"/>
              </a:defRPr>
            </a:pPr>
            <a:r>
              <a:rPr sz="3300" b="1">
                <a:solidFill>
                  <a:srgbClr val="D76F3E"/>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E2B1792B-0A44-48BB-96FA-23ABD76E8F79}"/>
              </a:ext>
            </a:extLst>
          </p:cNvPr>
          <p:cNvSpPr>
            <a:spLocks xmlns:a="http://schemas.openxmlformats.org/drawingml/2006/main" noGrp="1"/>
          </p:cNvSpPr>
          <p:nvPr/>
        </p:nvSpPr>
        <p:spPr>
          <a:xfrm xmlns:a="http://schemas.openxmlformats.org/drawingml/2006/main">
            <a:off x="3476625" y="2381250"/>
            <a:ext cx="2343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3D38"/>
                </a:solidFill>
                <a:latin typeface="Arial"/>
                <a:ea typeface="Arial"/>
                <a:cs typeface="Arial"/>
              </a:defRPr>
            </a:defPPr>
          </a:lstStyle>
          <a:p xmlns:a="http://schemas.openxmlformats.org/drawingml/2006/main">
            <a:pPr>
              <a:defRPr sz="2325" b="1">
                <a:solidFill>
                  <a:srgbClr val="163D38"/>
                </a:solidFill>
                <a:latin typeface="Arial"/>
                <a:ea typeface="Arial"/>
                <a:cs typeface="Arial"/>
              </a:defRPr>
            </a:pPr>
            <a:r>
              <a:rPr sz="2325" b="1">
                <a:solidFill>
                  <a:srgbClr val="163D38"/>
                </a:solidFill>
                <a:latin typeface="Arial"/>
                <a:ea typeface="Arial"/>
                <a:cs typeface="Arial"/>
              </a:rPr>
              <a:t>Ingress / Nginx</a:t>
            </a:r>
          </a:p>
        </p:txBody>
      </p:sp>
      <p:sp>
        <p:nvSpPr>
          <p:cNvPr id="7" name="">
            <a:extLst xmlns:a="http://schemas.openxmlformats.org/drawingml/2006/main">
              <a:ext uri="{FF2B5EF4-FFF2-40B4-BE49-F238E27FC236}">
                <a16:creationId xmlns:a16="http://schemas.microsoft.com/office/drawing/2014/main" id="{E912E98E-FD1F-4F82-9CEE-6CFFB5872B56}"/>
              </a:ext>
            </a:extLst>
          </p:cNvPr>
          <p:cNvSpPr>
            <a:spLocks xmlns:a="http://schemas.openxmlformats.org/drawingml/2006/main" noGrp="1"/>
          </p:cNvSpPr>
          <p:nvPr/>
        </p:nvSpPr>
        <p:spPr>
          <a:xfrm xmlns:a="http://schemas.openxmlformats.org/drawingml/2006/main">
            <a:off x="3476625" y="3152775"/>
            <a:ext cx="23431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963"/>
                </a:solidFill>
                <a:latin typeface="Arial"/>
                <a:ea typeface="Arial"/>
                <a:cs typeface="Arial"/>
              </a:defRPr>
            </a:defPPr>
          </a:lstStyle>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 serves React</a:t>
            </a:r>
          </a:p>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/api routes to backend</a:t>
            </a:r>
          </a:p>
        </p:txBody>
      </p:sp>
      <p:sp>
        <p:nvSpPr>
          <p:cNvPr id="8" name="">
            <a:extLst xmlns:a="http://schemas.openxmlformats.org/drawingml/2006/main">
              <a:ext uri="{FF2B5EF4-FFF2-40B4-BE49-F238E27FC236}">
                <a16:creationId xmlns:a16="http://schemas.microsoft.com/office/drawing/2014/main" id="{75501814-D635-4C6C-93D9-A106886280DA}"/>
              </a:ext>
            </a:extLst>
          </p:cNvPr>
          <p:cNvSpPr>
            <a:spLocks xmlns:a="http://schemas.openxmlformats.org/drawingml/2006/main" noGrp="1"/>
          </p:cNvSpPr>
          <p:nvPr/>
        </p:nvSpPr>
        <p:spPr>
          <a:xfrm xmlns:a="http://schemas.openxmlformats.org/drawingml/2006/main">
            <a:off x="6343650" y="16764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D76F3E"/>
                </a:solidFill>
                <a:latin typeface="Arial"/>
                <a:ea typeface="Arial"/>
                <a:cs typeface="Arial"/>
              </a:defRPr>
            </a:defPPr>
          </a:lstStyle>
          <a:p xmlns:a="http://schemas.openxmlformats.org/drawingml/2006/main">
            <a:pPr>
              <a:defRPr sz="3300" b="1">
                <a:solidFill>
                  <a:srgbClr val="D76F3E"/>
                </a:solidFill>
                <a:latin typeface="Arial"/>
                <a:ea typeface="Arial"/>
                <a:cs typeface="Arial"/>
              </a:defRPr>
            </a:pPr>
            <a:r>
              <a:rPr sz="3300" b="1">
                <a:solidFill>
                  <a:srgbClr val="D76F3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192D2D54-7694-4F92-9ACE-3E35A707697B}"/>
              </a:ext>
            </a:extLst>
          </p:cNvPr>
          <p:cNvSpPr>
            <a:spLocks xmlns:a="http://schemas.openxmlformats.org/drawingml/2006/main" noGrp="1"/>
          </p:cNvSpPr>
          <p:nvPr/>
        </p:nvSpPr>
        <p:spPr>
          <a:xfrm xmlns:a="http://schemas.openxmlformats.org/drawingml/2006/main">
            <a:off x="6343650" y="2381250"/>
            <a:ext cx="2343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3D38"/>
                </a:solidFill>
                <a:latin typeface="Arial"/>
                <a:ea typeface="Arial"/>
                <a:cs typeface="Arial"/>
              </a:defRPr>
            </a:defPPr>
          </a:lstStyle>
          <a:p xmlns:a="http://schemas.openxmlformats.org/drawingml/2006/main">
            <a:pPr>
              <a:defRPr sz="2325" b="1">
                <a:solidFill>
                  <a:srgbClr val="163D38"/>
                </a:solidFill>
                <a:latin typeface="Arial"/>
                <a:ea typeface="Arial"/>
                <a:cs typeface="Arial"/>
              </a:defRPr>
            </a:pPr>
            <a:r>
              <a:rPr sz="2325" b="1">
                <a:solidFill>
                  <a:srgbClr val="163D38"/>
                </a:solidFill>
                <a:latin typeface="Arial"/>
                <a:ea typeface="Arial"/>
                <a:cs typeface="Arial"/>
              </a:rPr>
              <a:t>FastAPI</a:t>
            </a:r>
          </a:p>
        </p:txBody>
      </p:sp>
      <p:sp>
        <p:nvSpPr>
          <p:cNvPr id="10" name="">
            <a:extLst xmlns:a="http://schemas.openxmlformats.org/drawingml/2006/main">
              <a:ext uri="{FF2B5EF4-FFF2-40B4-BE49-F238E27FC236}">
                <a16:creationId xmlns:a16="http://schemas.microsoft.com/office/drawing/2014/main" id="{2DD43FBF-3450-4751-867B-ED8C490E4C68}"/>
              </a:ext>
            </a:extLst>
          </p:cNvPr>
          <p:cNvSpPr>
            <a:spLocks xmlns:a="http://schemas.openxmlformats.org/drawingml/2006/main" noGrp="1"/>
          </p:cNvSpPr>
          <p:nvPr/>
        </p:nvSpPr>
        <p:spPr>
          <a:xfrm xmlns:a="http://schemas.openxmlformats.org/drawingml/2006/main">
            <a:off x="6343650" y="3152775"/>
            <a:ext cx="23431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963"/>
                </a:solidFill>
                <a:latin typeface="Arial"/>
                <a:ea typeface="Arial"/>
                <a:cs typeface="Arial"/>
              </a:defRPr>
            </a:defPPr>
          </a:lstStyle>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Validation and CRUD</a:t>
            </a:r>
          </a:p>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Health and metrics</a:t>
            </a:r>
          </a:p>
        </p:txBody>
      </p:sp>
      <p:sp>
        <p:nvSpPr>
          <p:cNvPr id="11" name="">
            <a:extLst xmlns:a="http://schemas.openxmlformats.org/drawingml/2006/main">
              <a:ext uri="{FF2B5EF4-FFF2-40B4-BE49-F238E27FC236}">
                <a16:creationId xmlns:a16="http://schemas.microsoft.com/office/drawing/2014/main" id="{DDE665B7-9926-46F0-9D5B-80B853582497}"/>
              </a:ext>
            </a:extLst>
          </p:cNvPr>
          <p:cNvSpPr>
            <a:spLocks xmlns:a="http://schemas.openxmlformats.org/drawingml/2006/main" noGrp="1"/>
          </p:cNvSpPr>
          <p:nvPr/>
        </p:nvSpPr>
        <p:spPr>
          <a:xfrm xmlns:a="http://schemas.openxmlformats.org/drawingml/2006/main">
            <a:off x="9210675" y="16764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D76F3E"/>
                </a:solidFill>
                <a:latin typeface="Arial"/>
                <a:ea typeface="Arial"/>
                <a:cs typeface="Arial"/>
              </a:defRPr>
            </a:defPPr>
          </a:lstStyle>
          <a:p xmlns:a="http://schemas.openxmlformats.org/drawingml/2006/main">
            <a:pPr>
              <a:defRPr sz="3300" b="1">
                <a:solidFill>
                  <a:srgbClr val="D76F3E"/>
                </a:solidFill>
                <a:latin typeface="Arial"/>
                <a:ea typeface="Arial"/>
                <a:cs typeface="Arial"/>
              </a:defRPr>
            </a:pPr>
            <a:r>
              <a:rPr sz="3300" b="1">
                <a:solidFill>
                  <a:srgbClr val="D76F3E"/>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7DB7AE60-D008-408D-8E7C-691B94319F7E}"/>
              </a:ext>
            </a:extLst>
          </p:cNvPr>
          <p:cNvSpPr>
            <a:spLocks xmlns:a="http://schemas.openxmlformats.org/drawingml/2006/main" noGrp="1"/>
          </p:cNvSpPr>
          <p:nvPr/>
        </p:nvSpPr>
        <p:spPr>
          <a:xfrm xmlns:a="http://schemas.openxmlformats.org/drawingml/2006/main">
            <a:off x="9210675" y="2381250"/>
            <a:ext cx="2343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3D38"/>
                </a:solidFill>
                <a:latin typeface="Arial"/>
                <a:ea typeface="Arial"/>
                <a:cs typeface="Arial"/>
              </a:defRPr>
            </a:defPPr>
          </a:lstStyle>
          <a:p xmlns:a="http://schemas.openxmlformats.org/drawingml/2006/main">
            <a:pPr>
              <a:defRPr sz="2325" b="1">
                <a:solidFill>
                  <a:srgbClr val="163D38"/>
                </a:solidFill>
                <a:latin typeface="Arial"/>
                <a:ea typeface="Arial"/>
                <a:cs typeface="Arial"/>
              </a:defRPr>
            </a:pPr>
            <a:r>
              <a:rPr sz="2325" b="1">
                <a:solidFill>
                  <a:srgbClr val="163D38"/>
                </a:solidFill>
                <a:latin typeface="Arial"/>
                <a:ea typeface="Arial"/>
                <a:cs typeface="Arial"/>
              </a:rPr>
              <a:t>PostgreSQL</a:t>
            </a:r>
          </a:p>
        </p:txBody>
      </p:sp>
      <p:sp>
        <p:nvSpPr>
          <p:cNvPr id="13" name="">
            <a:extLst xmlns:a="http://schemas.openxmlformats.org/drawingml/2006/main">
              <a:ext uri="{FF2B5EF4-FFF2-40B4-BE49-F238E27FC236}">
                <a16:creationId xmlns:a16="http://schemas.microsoft.com/office/drawing/2014/main" id="{BDB9B62F-2F0C-462F-AD52-D3639A982F18}"/>
              </a:ext>
            </a:extLst>
          </p:cNvPr>
          <p:cNvSpPr>
            <a:spLocks xmlns:a="http://schemas.openxmlformats.org/drawingml/2006/main" noGrp="1"/>
          </p:cNvSpPr>
          <p:nvPr/>
        </p:nvSpPr>
        <p:spPr>
          <a:xfrm xmlns:a="http://schemas.openxmlformats.org/drawingml/2006/main">
            <a:off x="9210675" y="3152775"/>
            <a:ext cx="23431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963"/>
                </a:solidFill>
                <a:latin typeface="Arial"/>
                <a:ea typeface="Arial"/>
                <a:cs typeface="Arial"/>
              </a:defRPr>
            </a:defPPr>
          </a:lstStyle>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Bookings and constraints</a:t>
            </a:r>
          </a:p>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Persistent volume</a:t>
            </a:r>
          </a:p>
        </p:txBody>
      </p:sp>
      <p:sp>
        <p:nvSpPr>
          <p:cNvPr id="14" name="">
            <a:extLst xmlns:a="http://schemas.openxmlformats.org/drawingml/2006/main">
              <a:ext uri="{FF2B5EF4-FFF2-40B4-BE49-F238E27FC236}">
                <a16:creationId xmlns:a16="http://schemas.microsoft.com/office/drawing/2014/main" id="{2F5CE70E-A172-4473-B34B-DDCB1EAB86F7}"/>
              </a:ext>
            </a:extLst>
          </p:cNvPr>
          <p:cNvSpPr>
            <a:spLocks xmlns:a="http://schemas.openxmlformats.org/drawingml/2006/main" noGrp="1"/>
          </p:cNvSpPr>
          <p:nvPr/>
        </p:nvSpPr>
        <p:spPr>
          <a:xfrm xmlns:a="http://schemas.openxmlformats.org/drawingml/2006/main">
            <a:off x="628650" y="49149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3D38"/>
                </a:solidFill>
                <a:latin typeface="Arial"/>
                <a:ea typeface="Arial"/>
                <a:cs typeface="Arial"/>
              </a:defRPr>
            </a:defPPr>
          </a:lstStyle>
          <a:p xmlns:a="http://schemas.openxmlformats.org/drawingml/2006/main">
            <a:pPr>
              <a:defRPr sz="2400" b="1">
                <a:solidFill>
                  <a:srgbClr val="163D38"/>
                </a:solidFill>
                <a:latin typeface="Arial"/>
                <a:ea typeface="Arial"/>
                <a:cs typeface="Arial"/>
              </a:defRPr>
            </a:pPr>
            <a:r>
              <a:rPr sz="2400" b="1">
                <a:solidFill>
                  <a:srgbClr val="163D38"/>
                </a:solidFill>
                <a:latin typeface="Arial"/>
                <a:ea typeface="Arial"/>
                <a:cs typeface="Arial"/>
              </a:rPr>
              <a:t>Monitoring</a:t>
            </a:r>
          </a:p>
        </p:txBody>
      </p:sp>
      <p:sp>
        <p:nvSpPr>
          <p:cNvPr id="15" name="">
            <a:extLst xmlns:a="http://schemas.openxmlformats.org/drawingml/2006/main">
              <a:ext uri="{FF2B5EF4-FFF2-40B4-BE49-F238E27FC236}">
                <a16:creationId xmlns:a16="http://schemas.microsoft.com/office/drawing/2014/main" id="{C414EEC7-32DE-485B-83A1-4DF16B614EB9}"/>
              </a:ext>
            </a:extLst>
          </p:cNvPr>
          <p:cNvSpPr>
            <a:spLocks xmlns:a="http://schemas.openxmlformats.org/drawingml/2006/main" noGrp="1"/>
          </p:cNvSpPr>
          <p:nvPr/>
        </p:nvSpPr>
        <p:spPr>
          <a:xfrm xmlns:a="http://schemas.openxmlformats.org/drawingml/2006/main">
            <a:off x="628650" y="55626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26963"/>
                </a:solidFill>
                <a:latin typeface="Arial"/>
                <a:ea typeface="Arial"/>
                <a:cs typeface="Arial"/>
              </a:defRPr>
            </a:defPPr>
          </a:lstStyle>
          <a:p xmlns:a="http://schemas.openxmlformats.org/drawingml/2006/main">
            <a:pPr>
              <a:defRPr sz="2250" b="0">
                <a:solidFill>
                  <a:srgbClr val="526963"/>
                </a:solidFill>
                <a:latin typeface="Arial"/>
                <a:ea typeface="Arial"/>
                <a:cs typeface="Arial"/>
              </a:defRPr>
            </a:pPr>
            <a:r>
              <a:rPr sz="2250" b="0">
                <a:solidFill>
                  <a:srgbClr val="526963"/>
                </a:solidFill>
                <a:latin typeface="Arial"/>
                <a:ea typeface="Arial"/>
                <a:cs typeface="Arial"/>
              </a:rPr>
              <a:t>FastAPI /metrics     Prometheus scrape     Grafana dashboard</a:t>
            </a:r>
          </a:p>
        </p:txBody>
      </p:sp>
    </p:spTree>
    <p:extLst>
      <p:ext uri="{BB962C8B-B14F-4D97-AF65-F5344CB8AC3E}">
        <p14:creationId xmlns:p14="http://schemas.microsoft.com/office/powerpoint/2010/main" val="721649166"/>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1A646A9-9DAF-4C3C-AD86-A79C988DFFA1}"/>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Stack and source</a:t>
            </a:r>
          </a:p>
        </p:txBody>
      </p:sp>
      <p:sp>
        <p:nvSpPr>
          <p:cNvPr id="2" name="">
            <a:extLst xmlns:a="http://schemas.openxmlformats.org/drawingml/2006/main">
              <a:ext uri="{FF2B5EF4-FFF2-40B4-BE49-F238E27FC236}">
                <a16:creationId xmlns:a16="http://schemas.microsoft.com/office/drawing/2014/main" id="{6336D1FF-A599-4F4F-81AF-6C799DB59021}"/>
              </a:ext>
            </a:extLst>
          </p:cNvPr>
          <p:cNvSpPr>
            <a:spLocks xmlns:a="http://schemas.openxmlformats.org/drawingml/2006/main" noGrp="1"/>
          </p:cNvSpPr>
          <p:nvPr/>
        </p:nvSpPr>
        <p:spPr>
          <a:xfrm xmlns:a="http://schemas.openxmlformats.org/drawingml/2006/main">
            <a:off x="619125" y="1476375"/>
            <a:ext cx="2076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3D38"/>
                </a:solidFill>
                <a:latin typeface="Arial"/>
                <a:ea typeface="Arial"/>
                <a:cs typeface="Arial"/>
              </a:defRPr>
            </a:defPPr>
          </a:lstStyle>
          <a:p xmlns:a="http://schemas.openxmlformats.org/drawingml/2006/main">
            <a:pPr>
              <a:defRPr sz="2100" b="1">
                <a:solidFill>
                  <a:srgbClr val="163D38"/>
                </a:solidFill>
                <a:latin typeface="Arial"/>
                <a:ea typeface="Arial"/>
                <a:cs typeface="Arial"/>
              </a:defRPr>
            </a:pPr>
            <a:r>
              <a:rPr sz="2100" b="1">
                <a:solidFill>
                  <a:srgbClr val="163D38"/>
                </a:solidFill>
                <a:latin typeface="Arial"/>
                <a:ea typeface="Arial"/>
                <a:cs typeface="Arial"/>
              </a:rPr>
              <a:t>Interface</a:t>
            </a:r>
          </a:p>
        </p:txBody>
      </p:sp>
      <p:sp>
        <p:nvSpPr>
          <p:cNvPr id="3" name="">
            <a:extLst xmlns:a="http://schemas.openxmlformats.org/drawingml/2006/main">
              <a:ext uri="{FF2B5EF4-FFF2-40B4-BE49-F238E27FC236}">
                <a16:creationId xmlns:a16="http://schemas.microsoft.com/office/drawing/2014/main" id="{B8B3F2F6-F3E5-4DA7-B02B-37DFADA853CB}"/>
              </a:ext>
            </a:extLst>
          </p:cNvPr>
          <p:cNvSpPr>
            <a:spLocks xmlns:a="http://schemas.openxmlformats.org/drawingml/2006/main" noGrp="1"/>
          </p:cNvSpPr>
          <p:nvPr/>
        </p:nvSpPr>
        <p:spPr>
          <a:xfrm xmlns:a="http://schemas.openxmlformats.org/drawingml/2006/main">
            <a:off x="2857500" y="14763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D38"/>
                </a:solidFill>
                <a:latin typeface="Arial"/>
                <a:ea typeface="Arial"/>
                <a:cs typeface="Arial"/>
              </a:defRPr>
            </a:defPPr>
          </a:lstStyle>
          <a:p xmlns:a="http://schemas.openxmlformats.org/drawingml/2006/main">
            <a:pPr>
              <a:defRPr sz="2025" b="0">
                <a:solidFill>
                  <a:srgbClr val="163D38"/>
                </a:solidFill>
                <a:latin typeface="Arial"/>
                <a:ea typeface="Arial"/>
                <a:cs typeface="Arial"/>
              </a:defRPr>
            </a:pPr>
            <a:r>
              <a:rPr sz="2025" b="0">
                <a:solidFill>
                  <a:srgbClr val="163D38"/>
                </a:solidFill>
                <a:latin typeface="Arial"/>
                <a:ea typeface="Arial"/>
                <a:cs typeface="Arial"/>
              </a:rPr>
              <a:t>React, Vite, Nginx</a:t>
            </a:r>
          </a:p>
        </p:txBody>
      </p:sp>
      <p:sp>
        <p:nvSpPr>
          <p:cNvPr id="4" name="">
            <a:extLst xmlns:a="http://schemas.openxmlformats.org/drawingml/2006/main">
              <a:ext uri="{FF2B5EF4-FFF2-40B4-BE49-F238E27FC236}">
                <a16:creationId xmlns:a16="http://schemas.microsoft.com/office/drawing/2014/main" id="{CE9C5AA9-94B9-40F9-BA7A-C826E4B02ED2}"/>
              </a:ext>
            </a:extLst>
          </p:cNvPr>
          <p:cNvSpPr>
            <a:spLocks xmlns:a="http://schemas.openxmlformats.org/drawingml/2006/main" noGrp="1"/>
          </p:cNvSpPr>
          <p:nvPr/>
        </p:nvSpPr>
        <p:spPr>
          <a:xfrm xmlns:a="http://schemas.openxmlformats.org/drawingml/2006/main">
            <a:off x="2857500" y="183832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963"/>
                </a:solidFill>
                <a:latin typeface="Arial"/>
                <a:ea typeface="Arial"/>
                <a:cs typeface="Arial"/>
              </a:defRPr>
            </a:defPPr>
          </a:lstStyle>
          <a:p xmlns:a="http://schemas.openxmlformats.org/drawingml/2006/main">
            <a:pPr>
              <a:defRPr sz="1575" b="0">
                <a:solidFill>
                  <a:srgbClr val="526963"/>
                </a:solidFill>
                <a:latin typeface="Arial"/>
                <a:ea typeface="Arial"/>
                <a:cs typeface="Arial"/>
              </a:defRPr>
            </a:pPr>
            <a:r>
              <a:rPr sz="1575" b="0">
                <a:solidFill>
                  <a:srgbClr val="526963"/>
                </a:solidFill>
                <a:latin typeface="Arial"/>
                <a:ea typeface="Arial"/>
                <a:cs typeface="Arial"/>
              </a:rPr>
              <a:t>project/frontend/</a:t>
            </a:r>
          </a:p>
        </p:txBody>
      </p:sp>
      <p:sp>
        <p:nvSpPr>
          <p:cNvPr id="5" name="">
            <a:extLst xmlns:a="http://schemas.openxmlformats.org/drawingml/2006/main">
              <a:ext uri="{FF2B5EF4-FFF2-40B4-BE49-F238E27FC236}">
                <a16:creationId xmlns:a16="http://schemas.microsoft.com/office/drawing/2014/main" id="{B659A230-FDC4-4311-80CA-2FABBAB92D89}"/>
              </a:ext>
            </a:extLst>
          </p:cNvPr>
          <p:cNvSpPr>
            <a:spLocks xmlns:a="http://schemas.openxmlformats.org/drawingml/2006/main" noGrp="1"/>
          </p:cNvSpPr>
          <p:nvPr/>
        </p:nvSpPr>
        <p:spPr>
          <a:xfrm xmlns:a="http://schemas.openxmlformats.org/drawingml/2006/main">
            <a:off x="619125" y="2266950"/>
            <a:ext cx="2076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3D38"/>
                </a:solidFill>
                <a:latin typeface="Arial"/>
                <a:ea typeface="Arial"/>
                <a:cs typeface="Arial"/>
              </a:defRPr>
            </a:defPPr>
          </a:lstStyle>
          <a:p xmlns:a="http://schemas.openxmlformats.org/drawingml/2006/main">
            <a:pPr>
              <a:defRPr sz="2100" b="1">
                <a:solidFill>
                  <a:srgbClr val="163D38"/>
                </a:solidFill>
                <a:latin typeface="Arial"/>
                <a:ea typeface="Arial"/>
                <a:cs typeface="Arial"/>
              </a:defRPr>
            </a:pPr>
            <a:r>
              <a:rPr sz="2100" b="1">
                <a:solidFill>
                  <a:srgbClr val="163D38"/>
                </a:solidFill>
                <a:latin typeface="Arial"/>
                <a:ea typeface="Arial"/>
                <a:cs typeface="Arial"/>
              </a:rPr>
              <a:t>API and data</a:t>
            </a:r>
          </a:p>
        </p:txBody>
      </p:sp>
      <p:sp>
        <p:nvSpPr>
          <p:cNvPr id="6" name="">
            <a:extLst xmlns:a="http://schemas.openxmlformats.org/drawingml/2006/main">
              <a:ext uri="{FF2B5EF4-FFF2-40B4-BE49-F238E27FC236}">
                <a16:creationId xmlns:a16="http://schemas.microsoft.com/office/drawing/2014/main" id="{8A6C7CED-9E81-431C-88A3-56BD8BC3B2B1}"/>
              </a:ext>
            </a:extLst>
          </p:cNvPr>
          <p:cNvSpPr>
            <a:spLocks xmlns:a="http://schemas.openxmlformats.org/drawingml/2006/main" noGrp="1"/>
          </p:cNvSpPr>
          <p:nvPr/>
        </p:nvSpPr>
        <p:spPr>
          <a:xfrm xmlns:a="http://schemas.openxmlformats.org/drawingml/2006/main">
            <a:off x="2857500" y="22669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D38"/>
                </a:solidFill>
                <a:latin typeface="Arial"/>
                <a:ea typeface="Arial"/>
                <a:cs typeface="Arial"/>
              </a:defRPr>
            </a:defPPr>
          </a:lstStyle>
          <a:p xmlns:a="http://schemas.openxmlformats.org/drawingml/2006/main">
            <a:pPr>
              <a:defRPr sz="2025" b="0">
                <a:solidFill>
                  <a:srgbClr val="163D38"/>
                </a:solidFill>
                <a:latin typeface="Arial"/>
                <a:ea typeface="Arial"/>
                <a:cs typeface="Arial"/>
              </a:defRPr>
            </a:pPr>
            <a:r>
              <a:rPr sz="2025" b="0">
                <a:solidFill>
                  <a:srgbClr val="163D38"/>
                </a:solidFill>
                <a:latin typeface="Arial"/>
                <a:ea typeface="Arial"/>
                <a:cs typeface="Arial"/>
              </a:rPr>
              <a:t>FastAPI, SQLAlchemy, Alembic, PostgreSQL</a:t>
            </a:r>
          </a:p>
        </p:txBody>
      </p:sp>
      <p:sp>
        <p:nvSpPr>
          <p:cNvPr id="7" name="">
            <a:extLst xmlns:a="http://schemas.openxmlformats.org/drawingml/2006/main">
              <a:ext uri="{FF2B5EF4-FFF2-40B4-BE49-F238E27FC236}">
                <a16:creationId xmlns:a16="http://schemas.microsoft.com/office/drawing/2014/main" id="{D38C8605-A694-44F2-A123-2AA07D3053FD}"/>
              </a:ext>
            </a:extLst>
          </p:cNvPr>
          <p:cNvSpPr>
            <a:spLocks xmlns:a="http://schemas.openxmlformats.org/drawingml/2006/main" noGrp="1"/>
          </p:cNvSpPr>
          <p:nvPr/>
        </p:nvSpPr>
        <p:spPr>
          <a:xfrm xmlns:a="http://schemas.openxmlformats.org/drawingml/2006/main">
            <a:off x="2857500" y="2628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963"/>
                </a:solidFill>
                <a:latin typeface="Arial"/>
                <a:ea typeface="Arial"/>
                <a:cs typeface="Arial"/>
              </a:defRPr>
            </a:defPPr>
          </a:lstStyle>
          <a:p xmlns:a="http://schemas.openxmlformats.org/drawingml/2006/main">
            <a:pPr>
              <a:defRPr sz="1575" b="0">
                <a:solidFill>
                  <a:srgbClr val="526963"/>
                </a:solidFill>
                <a:latin typeface="Arial"/>
                <a:ea typeface="Arial"/>
                <a:cs typeface="Arial"/>
              </a:defRPr>
            </a:pPr>
            <a:r>
              <a:rPr sz="1575" b="0">
                <a:solidFill>
                  <a:srgbClr val="526963"/>
                </a:solidFill>
                <a:latin typeface="Arial"/>
                <a:ea typeface="Arial"/>
                <a:cs typeface="Arial"/>
              </a:rPr>
              <a:t>project/backend/</a:t>
            </a:r>
          </a:p>
        </p:txBody>
      </p:sp>
      <p:sp>
        <p:nvSpPr>
          <p:cNvPr id="8" name="">
            <a:extLst xmlns:a="http://schemas.openxmlformats.org/drawingml/2006/main">
              <a:ext uri="{FF2B5EF4-FFF2-40B4-BE49-F238E27FC236}">
                <a16:creationId xmlns:a16="http://schemas.microsoft.com/office/drawing/2014/main" id="{A8E120FE-AA8E-4DBF-AA08-313522009C1B}"/>
              </a:ext>
            </a:extLst>
          </p:cNvPr>
          <p:cNvSpPr>
            <a:spLocks xmlns:a="http://schemas.openxmlformats.org/drawingml/2006/main" noGrp="1"/>
          </p:cNvSpPr>
          <p:nvPr/>
        </p:nvSpPr>
        <p:spPr>
          <a:xfrm xmlns:a="http://schemas.openxmlformats.org/drawingml/2006/main">
            <a:off x="619125" y="3057525"/>
            <a:ext cx="2076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3D38"/>
                </a:solidFill>
                <a:latin typeface="Arial"/>
                <a:ea typeface="Arial"/>
                <a:cs typeface="Arial"/>
              </a:defRPr>
            </a:defPPr>
          </a:lstStyle>
          <a:p xmlns:a="http://schemas.openxmlformats.org/drawingml/2006/main">
            <a:pPr>
              <a:defRPr sz="2100" b="1">
                <a:solidFill>
                  <a:srgbClr val="163D38"/>
                </a:solidFill>
                <a:latin typeface="Arial"/>
                <a:ea typeface="Arial"/>
                <a:cs typeface="Arial"/>
              </a:defRPr>
            </a:pPr>
            <a:r>
              <a:rPr sz="2100" b="1">
                <a:solidFill>
                  <a:srgbClr val="163D38"/>
                </a:solidFill>
                <a:latin typeface="Arial"/>
                <a:ea typeface="Arial"/>
                <a:cs typeface="Arial"/>
              </a:rPr>
              <a:t>Packaging</a:t>
            </a:r>
          </a:p>
        </p:txBody>
      </p:sp>
      <p:sp>
        <p:nvSpPr>
          <p:cNvPr id="9" name="">
            <a:extLst xmlns:a="http://schemas.openxmlformats.org/drawingml/2006/main">
              <a:ext uri="{FF2B5EF4-FFF2-40B4-BE49-F238E27FC236}">
                <a16:creationId xmlns:a16="http://schemas.microsoft.com/office/drawing/2014/main" id="{33643ADD-FAC6-454C-A22B-89225189CE74}"/>
              </a:ext>
            </a:extLst>
          </p:cNvPr>
          <p:cNvSpPr>
            <a:spLocks xmlns:a="http://schemas.openxmlformats.org/drawingml/2006/main" noGrp="1"/>
          </p:cNvSpPr>
          <p:nvPr/>
        </p:nvSpPr>
        <p:spPr>
          <a:xfrm xmlns:a="http://schemas.openxmlformats.org/drawingml/2006/main">
            <a:off x="2857500" y="30575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D38"/>
                </a:solidFill>
                <a:latin typeface="Arial"/>
                <a:ea typeface="Arial"/>
                <a:cs typeface="Arial"/>
              </a:defRPr>
            </a:defPPr>
          </a:lstStyle>
          <a:p xmlns:a="http://schemas.openxmlformats.org/drawingml/2006/main">
            <a:pPr>
              <a:defRPr sz="2025" b="0">
                <a:solidFill>
                  <a:srgbClr val="163D38"/>
                </a:solidFill>
                <a:latin typeface="Arial"/>
                <a:ea typeface="Arial"/>
                <a:cs typeface="Arial"/>
              </a:defRPr>
            </a:pPr>
            <a:r>
              <a:rPr sz="2025" b="0">
                <a:solidFill>
                  <a:srgbClr val="163D38"/>
                </a:solidFill>
                <a:latin typeface="Arial"/>
                <a:ea typeface="Arial"/>
                <a:cs typeface="Arial"/>
              </a:rPr>
              <a:t>Docker Compose, non-root application images</a:t>
            </a:r>
          </a:p>
        </p:txBody>
      </p:sp>
      <p:sp>
        <p:nvSpPr>
          <p:cNvPr id="10" name="">
            <a:extLst xmlns:a="http://schemas.openxmlformats.org/drawingml/2006/main">
              <a:ext uri="{FF2B5EF4-FFF2-40B4-BE49-F238E27FC236}">
                <a16:creationId xmlns:a16="http://schemas.microsoft.com/office/drawing/2014/main" id="{2C9495DD-E288-4678-AD5D-33153820F499}"/>
              </a:ext>
            </a:extLst>
          </p:cNvPr>
          <p:cNvSpPr>
            <a:spLocks xmlns:a="http://schemas.openxmlformats.org/drawingml/2006/main" noGrp="1"/>
          </p:cNvSpPr>
          <p:nvPr/>
        </p:nvSpPr>
        <p:spPr>
          <a:xfrm xmlns:a="http://schemas.openxmlformats.org/drawingml/2006/main">
            <a:off x="2857500" y="341947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963"/>
                </a:solidFill>
                <a:latin typeface="Arial"/>
                <a:ea typeface="Arial"/>
                <a:cs typeface="Arial"/>
              </a:defRPr>
            </a:defPPr>
          </a:lstStyle>
          <a:p xmlns:a="http://schemas.openxmlformats.org/drawingml/2006/main">
            <a:pPr>
              <a:defRPr sz="1575" b="0">
                <a:solidFill>
                  <a:srgbClr val="526963"/>
                </a:solidFill>
                <a:latin typeface="Arial"/>
                <a:ea typeface="Arial"/>
                <a:cs typeface="Arial"/>
              </a:defRPr>
            </a:pPr>
            <a:r>
              <a:rPr sz="1575" b="0">
                <a:solidFill>
                  <a:srgbClr val="526963"/>
                </a:solidFill>
                <a:latin typeface="Arial"/>
                <a:ea typeface="Arial"/>
                <a:cs typeface="Arial"/>
              </a:rPr>
              <a:t>project/docker-compose.yml</a:t>
            </a:r>
          </a:p>
        </p:txBody>
      </p:sp>
      <p:sp>
        <p:nvSpPr>
          <p:cNvPr id="11" name="">
            <a:extLst xmlns:a="http://schemas.openxmlformats.org/drawingml/2006/main">
              <a:ext uri="{FF2B5EF4-FFF2-40B4-BE49-F238E27FC236}">
                <a16:creationId xmlns:a16="http://schemas.microsoft.com/office/drawing/2014/main" id="{620F1977-5214-478C-BBC3-C38D751235F4}"/>
              </a:ext>
            </a:extLst>
          </p:cNvPr>
          <p:cNvSpPr>
            <a:spLocks xmlns:a="http://schemas.openxmlformats.org/drawingml/2006/main" noGrp="1"/>
          </p:cNvSpPr>
          <p:nvPr/>
        </p:nvSpPr>
        <p:spPr>
          <a:xfrm xmlns:a="http://schemas.openxmlformats.org/drawingml/2006/main">
            <a:off x="619125" y="3848100"/>
            <a:ext cx="2076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3D38"/>
                </a:solidFill>
                <a:latin typeface="Arial"/>
                <a:ea typeface="Arial"/>
                <a:cs typeface="Arial"/>
              </a:defRPr>
            </a:defPPr>
          </a:lstStyle>
          <a:p xmlns:a="http://schemas.openxmlformats.org/drawingml/2006/main">
            <a:pPr>
              <a:defRPr sz="2100" b="1">
                <a:solidFill>
                  <a:srgbClr val="163D38"/>
                </a:solidFill>
                <a:latin typeface="Arial"/>
                <a:ea typeface="Arial"/>
                <a:cs typeface="Arial"/>
              </a:defRPr>
            </a:pPr>
            <a:r>
              <a:rPr sz="2100" b="1">
                <a:solidFill>
                  <a:srgbClr val="163D38"/>
                </a:solidFill>
                <a:latin typeface="Arial"/>
                <a:ea typeface="Arial"/>
                <a:cs typeface="Arial"/>
              </a:rPr>
              <a:t>Checks</a:t>
            </a:r>
          </a:p>
        </p:txBody>
      </p:sp>
      <p:sp>
        <p:nvSpPr>
          <p:cNvPr id="12" name="">
            <a:extLst xmlns:a="http://schemas.openxmlformats.org/drawingml/2006/main">
              <a:ext uri="{FF2B5EF4-FFF2-40B4-BE49-F238E27FC236}">
                <a16:creationId xmlns:a16="http://schemas.microsoft.com/office/drawing/2014/main" id="{0607711D-2882-431E-A0E5-F63BBBB8504B}"/>
              </a:ext>
            </a:extLst>
          </p:cNvPr>
          <p:cNvSpPr>
            <a:spLocks xmlns:a="http://schemas.openxmlformats.org/drawingml/2006/main" noGrp="1"/>
          </p:cNvSpPr>
          <p:nvPr/>
        </p:nvSpPr>
        <p:spPr>
          <a:xfrm xmlns:a="http://schemas.openxmlformats.org/drawingml/2006/main">
            <a:off x="2857500" y="38481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D38"/>
                </a:solidFill>
                <a:latin typeface="Arial"/>
                <a:ea typeface="Arial"/>
                <a:cs typeface="Arial"/>
              </a:defRPr>
            </a:defPPr>
          </a:lstStyle>
          <a:p xmlns:a="http://schemas.openxmlformats.org/drawingml/2006/main">
            <a:pPr>
              <a:defRPr sz="2025" b="0">
                <a:solidFill>
                  <a:srgbClr val="163D38"/>
                </a:solidFill>
                <a:latin typeface="Arial"/>
                <a:ea typeface="Arial"/>
                <a:cs typeface="Arial"/>
              </a:defRPr>
            </a:pPr>
            <a:r>
              <a:rPr sz="2025" b="0">
                <a:solidFill>
                  <a:srgbClr val="163D38"/>
                </a:solidFill>
                <a:latin typeface="Arial"/>
                <a:ea typeface="Arial"/>
                <a:cs typeface="Arial"/>
              </a:rPr>
              <a:t>Pytest, Ruff, Bandit, Gitleaks, Trivy</a:t>
            </a:r>
          </a:p>
        </p:txBody>
      </p:sp>
      <p:sp>
        <p:nvSpPr>
          <p:cNvPr id="13" name="">
            <a:extLst xmlns:a="http://schemas.openxmlformats.org/drawingml/2006/main">
              <a:ext uri="{FF2B5EF4-FFF2-40B4-BE49-F238E27FC236}">
                <a16:creationId xmlns:a16="http://schemas.microsoft.com/office/drawing/2014/main" id="{10B5A95E-F1A8-4FEC-AB01-51BF79C0EF8D}"/>
              </a:ext>
            </a:extLst>
          </p:cNvPr>
          <p:cNvSpPr>
            <a:spLocks xmlns:a="http://schemas.openxmlformats.org/drawingml/2006/main" noGrp="1"/>
          </p:cNvSpPr>
          <p:nvPr/>
        </p:nvSpPr>
        <p:spPr>
          <a:xfrm xmlns:a="http://schemas.openxmlformats.org/drawingml/2006/main">
            <a:off x="2857500" y="42100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963"/>
                </a:solidFill>
                <a:latin typeface="Arial"/>
                <a:ea typeface="Arial"/>
                <a:cs typeface="Arial"/>
              </a:defRPr>
            </a:defPPr>
          </a:lstStyle>
          <a:p xmlns:a="http://schemas.openxmlformats.org/drawingml/2006/main">
            <a:pPr>
              <a:defRPr sz="1575" b="0">
                <a:solidFill>
                  <a:srgbClr val="526963"/>
                </a:solidFill>
                <a:latin typeface="Arial"/>
                <a:ea typeface="Arial"/>
                <a:cs typeface="Arial"/>
              </a:defRPr>
            </a:pPr>
            <a:r>
              <a:rPr sz="1575" b="0">
                <a:solidFill>
                  <a:srgbClr val="526963"/>
                </a:solidFill>
                <a:latin typeface="Arial"/>
                <a:ea typeface="Arial"/>
                <a:cs typeface="Arial"/>
              </a:rPr>
              <a:t>GitHub Actions workflow</a:t>
            </a:r>
          </a:p>
        </p:txBody>
      </p:sp>
      <p:sp>
        <p:nvSpPr>
          <p:cNvPr id="14" name="">
            <a:extLst xmlns:a="http://schemas.openxmlformats.org/drawingml/2006/main">
              <a:ext uri="{FF2B5EF4-FFF2-40B4-BE49-F238E27FC236}">
                <a16:creationId xmlns:a16="http://schemas.microsoft.com/office/drawing/2014/main" id="{116C74FE-19AC-457A-9338-5828BAD72A69}"/>
              </a:ext>
            </a:extLst>
          </p:cNvPr>
          <p:cNvSpPr>
            <a:spLocks xmlns:a="http://schemas.openxmlformats.org/drawingml/2006/main" noGrp="1"/>
          </p:cNvSpPr>
          <p:nvPr/>
        </p:nvSpPr>
        <p:spPr>
          <a:xfrm xmlns:a="http://schemas.openxmlformats.org/drawingml/2006/main">
            <a:off x="619125" y="4638675"/>
            <a:ext cx="2076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3D38"/>
                </a:solidFill>
                <a:latin typeface="Arial"/>
                <a:ea typeface="Arial"/>
                <a:cs typeface="Arial"/>
              </a:defRPr>
            </a:defPPr>
          </a:lstStyle>
          <a:p xmlns:a="http://schemas.openxmlformats.org/drawingml/2006/main">
            <a:pPr>
              <a:defRPr sz="2100" b="1">
                <a:solidFill>
                  <a:srgbClr val="163D38"/>
                </a:solidFill>
                <a:latin typeface="Arial"/>
                <a:ea typeface="Arial"/>
                <a:cs typeface="Arial"/>
              </a:defRPr>
            </a:pPr>
            <a:r>
              <a:rPr sz="2100" b="1">
                <a:solidFill>
                  <a:srgbClr val="163D38"/>
                </a:solidFill>
                <a:latin typeface="Arial"/>
                <a:ea typeface="Arial"/>
                <a:cs typeface="Arial"/>
              </a:rPr>
              <a:t>Deployment</a:t>
            </a:r>
          </a:p>
        </p:txBody>
      </p:sp>
      <p:sp>
        <p:nvSpPr>
          <p:cNvPr id="15" name="">
            <a:extLst xmlns:a="http://schemas.openxmlformats.org/drawingml/2006/main">
              <a:ext uri="{FF2B5EF4-FFF2-40B4-BE49-F238E27FC236}">
                <a16:creationId xmlns:a16="http://schemas.microsoft.com/office/drawing/2014/main" id="{94F43DAE-D7B2-4A3C-BC72-5B06253797D5}"/>
              </a:ext>
            </a:extLst>
          </p:cNvPr>
          <p:cNvSpPr>
            <a:spLocks xmlns:a="http://schemas.openxmlformats.org/drawingml/2006/main" noGrp="1"/>
          </p:cNvSpPr>
          <p:nvPr/>
        </p:nvSpPr>
        <p:spPr>
          <a:xfrm xmlns:a="http://schemas.openxmlformats.org/drawingml/2006/main">
            <a:off x="2857500" y="46386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D38"/>
                </a:solidFill>
                <a:latin typeface="Arial"/>
                <a:ea typeface="Arial"/>
                <a:cs typeface="Arial"/>
              </a:defRPr>
            </a:defPPr>
          </a:lstStyle>
          <a:p xmlns:a="http://schemas.openxmlformats.org/drawingml/2006/main">
            <a:pPr>
              <a:defRPr sz="2025" b="0">
                <a:solidFill>
                  <a:srgbClr val="163D38"/>
                </a:solidFill>
                <a:latin typeface="Arial"/>
                <a:ea typeface="Arial"/>
                <a:cs typeface="Arial"/>
              </a:defRPr>
            </a:pPr>
            <a:r>
              <a:rPr sz="2025" b="0">
                <a:solidFill>
                  <a:srgbClr val="163D38"/>
                </a:solidFill>
                <a:latin typeface="Arial"/>
                <a:ea typeface="Arial"/>
                <a:cs typeface="Arial"/>
              </a:rPr>
              <a:t>Terraform, EKS, Helm, Argo CD</a:t>
            </a:r>
          </a:p>
        </p:txBody>
      </p:sp>
      <p:sp>
        <p:nvSpPr>
          <p:cNvPr id="16" name="">
            <a:extLst xmlns:a="http://schemas.openxmlformats.org/drawingml/2006/main">
              <a:ext uri="{FF2B5EF4-FFF2-40B4-BE49-F238E27FC236}">
                <a16:creationId xmlns:a16="http://schemas.microsoft.com/office/drawing/2014/main" id="{CDE0158C-E3DD-4460-8CAE-D6D1D8476631}"/>
              </a:ext>
            </a:extLst>
          </p:cNvPr>
          <p:cNvSpPr>
            <a:spLocks xmlns:a="http://schemas.openxmlformats.org/drawingml/2006/main" noGrp="1"/>
          </p:cNvSpPr>
          <p:nvPr/>
        </p:nvSpPr>
        <p:spPr>
          <a:xfrm xmlns:a="http://schemas.openxmlformats.org/drawingml/2006/main">
            <a:off x="2857500" y="500062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963"/>
                </a:solidFill>
                <a:latin typeface="Arial"/>
                <a:ea typeface="Arial"/>
                <a:cs typeface="Arial"/>
              </a:defRPr>
            </a:defPPr>
          </a:lstStyle>
          <a:p xmlns:a="http://schemas.openxmlformats.org/drawingml/2006/main">
            <a:pPr>
              <a:defRPr sz="1575" b="0">
                <a:solidFill>
                  <a:srgbClr val="526963"/>
                </a:solidFill>
                <a:latin typeface="Arial"/>
                <a:ea typeface="Arial"/>
                <a:cs typeface="Arial"/>
              </a:defRPr>
            </a:pPr>
            <a:r>
              <a:rPr sz="1575" b="0">
                <a:solidFill>
                  <a:srgbClr val="526963"/>
                </a:solidFill>
                <a:latin typeface="Arial"/>
                <a:ea typeface="Arial"/>
                <a:cs typeface="Arial"/>
              </a:rPr>
              <a:t>project/terraform/ and helm/</a:t>
            </a:r>
          </a:p>
        </p:txBody>
      </p:sp>
      <p:sp>
        <p:nvSpPr>
          <p:cNvPr id="17" name="">
            <a:extLst xmlns:a="http://schemas.openxmlformats.org/drawingml/2006/main">
              <a:ext uri="{FF2B5EF4-FFF2-40B4-BE49-F238E27FC236}">
                <a16:creationId xmlns:a16="http://schemas.microsoft.com/office/drawing/2014/main" id="{525E76B4-087E-43DC-8E6E-A0DEB5275210}"/>
              </a:ext>
            </a:extLst>
          </p:cNvPr>
          <p:cNvSpPr>
            <a:spLocks xmlns:a="http://schemas.openxmlformats.org/drawingml/2006/main" noGrp="1"/>
          </p:cNvSpPr>
          <p:nvPr/>
        </p:nvSpPr>
        <p:spPr>
          <a:xfrm xmlns:a="http://schemas.openxmlformats.org/drawingml/2006/main">
            <a:off x="619125" y="5429250"/>
            <a:ext cx="2076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3D38"/>
                </a:solidFill>
                <a:latin typeface="Arial"/>
                <a:ea typeface="Arial"/>
                <a:cs typeface="Arial"/>
              </a:defRPr>
            </a:defPPr>
          </a:lstStyle>
          <a:p xmlns:a="http://schemas.openxmlformats.org/drawingml/2006/main">
            <a:pPr>
              <a:defRPr sz="2100" b="1">
                <a:solidFill>
                  <a:srgbClr val="163D38"/>
                </a:solidFill>
                <a:latin typeface="Arial"/>
                <a:ea typeface="Arial"/>
                <a:cs typeface="Arial"/>
              </a:defRPr>
            </a:pPr>
            <a:r>
              <a:rPr sz="2100" b="1">
                <a:solidFill>
                  <a:srgbClr val="163D38"/>
                </a:solidFill>
                <a:latin typeface="Arial"/>
                <a:ea typeface="Arial"/>
                <a:cs typeface="Arial"/>
              </a:rPr>
              <a:t>Monitoring</a:t>
            </a:r>
          </a:p>
        </p:txBody>
      </p:sp>
      <p:sp>
        <p:nvSpPr>
          <p:cNvPr id="18" name="">
            <a:extLst xmlns:a="http://schemas.openxmlformats.org/drawingml/2006/main">
              <a:ext uri="{FF2B5EF4-FFF2-40B4-BE49-F238E27FC236}">
                <a16:creationId xmlns:a16="http://schemas.microsoft.com/office/drawing/2014/main" id="{1D14C8D5-626A-4D7F-8D5C-109F32B4F3F2}"/>
              </a:ext>
            </a:extLst>
          </p:cNvPr>
          <p:cNvSpPr>
            <a:spLocks xmlns:a="http://schemas.openxmlformats.org/drawingml/2006/main" noGrp="1"/>
          </p:cNvSpPr>
          <p:nvPr/>
        </p:nvSpPr>
        <p:spPr>
          <a:xfrm xmlns:a="http://schemas.openxmlformats.org/drawingml/2006/main">
            <a:off x="2857500" y="54292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D38"/>
                </a:solidFill>
                <a:latin typeface="Arial"/>
                <a:ea typeface="Arial"/>
                <a:cs typeface="Arial"/>
              </a:defRPr>
            </a:defPPr>
          </a:lstStyle>
          <a:p xmlns:a="http://schemas.openxmlformats.org/drawingml/2006/main">
            <a:pPr>
              <a:defRPr sz="2025" b="0">
                <a:solidFill>
                  <a:srgbClr val="163D38"/>
                </a:solidFill>
                <a:latin typeface="Arial"/>
                <a:ea typeface="Arial"/>
                <a:cs typeface="Arial"/>
              </a:defRPr>
            </a:pPr>
            <a:r>
              <a:rPr sz="2025" b="0">
                <a:solidFill>
                  <a:srgbClr val="163D38"/>
                </a:solidFill>
                <a:latin typeface="Arial"/>
                <a:ea typeface="Arial"/>
                <a:cs typeface="Arial"/>
              </a:rPr>
              <a:t>Prometheus, Grafana, ServiceMonitor</a:t>
            </a:r>
          </a:p>
        </p:txBody>
      </p:sp>
      <p:sp>
        <p:nvSpPr>
          <p:cNvPr id="19" name="">
            <a:extLst xmlns:a="http://schemas.openxmlformats.org/drawingml/2006/main">
              <a:ext uri="{FF2B5EF4-FFF2-40B4-BE49-F238E27FC236}">
                <a16:creationId xmlns:a16="http://schemas.microsoft.com/office/drawing/2014/main" id="{4E7E86E1-7918-4DB1-B62F-75ED5B4A99F0}"/>
              </a:ext>
            </a:extLst>
          </p:cNvPr>
          <p:cNvSpPr>
            <a:spLocks xmlns:a="http://schemas.openxmlformats.org/drawingml/2006/main" noGrp="1"/>
          </p:cNvSpPr>
          <p:nvPr/>
        </p:nvSpPr>
        <p:spPr>
          <a:xfrm xmlns:a="http://schemas.openxmlformats.org/drawingml/2006/main">
            <a:off x="2857500" y="57912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963"/>
                </a:solidFill>
                <a:latin typeface="Arial"/>
                <a:ea typeface="Arial"/>
                <a:cs typeface="Arial"/>
              </a:defRPr>
            </a:defPPr>
          </a:lstStyle>
          <a:p xmlns:a="http://schemas.openxmlformats.org/drawingml/2006/main">
            <a:pPr>
              <a:defRPr sz="1575" b="0">
                <a:solidFill>
                  <a:srgbClr val="526963"/>
                </a:solidFill>
                <a:latin typeface="Arial"/>
                <a:ea typeface="Arial"/>
                <a:cs typeface="Arial"/>
              </a:defRPr>
            </a:pPr>
            <a:r>
              <a:rPr sz="1575" b="0">
                <a:solidFill>
                  <a:srgbClr val="526963"/>
                </a:solidFill>
                <a:latin typeface="Arial"/>
                <a:ea typeface="Arial"/>
                <a:cs typeface="Arial"/>
              </a:rPr>
              <a:t>project/monitoring/</a:t>
            </a:r>
          </a:p>
        </p:txBody>
      </p:sp>
    </p:spTree>
    <p:extLst>
      <p:ext uri="{BB962C8B-B14F-4D97-AF65-F5344CB8AC3E}">
        <p14:creationId xmlns:p14="http://schemas.microsoft.com/office/powerpoint/2010/main" val="568802439"/>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FC1340-42C3-4A73-8FEE-9D65E4A6582B}"/>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Tests and booking conflicts</a:t>
            </a:r>
          </a:p>
        </p:txBody>
      </p:sp>
      <p:sp>
        <p:nvSpPr>
          <p:cNvPr id="2" name="">
            <a:extLst xmlns:a="http://schemas.openxmlformats.org/drawingml/2006/main">
              <a:ext uri="{FF2B5EF4-FFF2-40B4-BE49-F238E27FC236}">
                <a16:creationId xmlns:a16="http://schemas.microsoft.com/office/drawing/2014/main" id="{182AF53E-AC78-4AAE-A591-B6C3A902229A}"/>
              </a:ext>
            </a:extLst>
          </p:cNvPr>
          <p:cNvSpPr>
            <a:spLocks xmlns:a="http://schemas.openxmlformats.org/drawingml/2006/main" noGrp="1"/>
          </p:cNvSpPr>
          <p:nvPr/>
        </p:nvSpPr>
        <p:spPr>
          <a:xfrm xmlns:a="http://schemas.openxmlformats.org/drawingml/2006/main">
            <a:off x="609600" y="1647825"/>
            <a:ext cx="2571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900" b="1">
                <a:solidFill>
                  <a:srgbClr val="D76F3E"/>
                </a:solidFill>
                <a:latin typeface="Arial"/>
                <a:ea typeface="Arial"/>
                <a:cs typeface="Arial"/>
              </a:defRPr>
            </a:defPPr>
          </a:lstStyle>
          <a:p xmlns:a="http://schemas.openxmlformats.org/drawingml/2006/main">
            <a:pPr>
              <a:defRPr sz="9900" b="1">
                <a:solidFill>
                  <a:srgbClr val="D76F3E"/>
                </a:solidFill>
                <a:latin typeface="Arial"/>
                <a:ea typeface="Arial"/>
                <a:cs typeface="Arial"/>
              </a:defRPr>
            </a:pPr>
            <a:r>
              <a:rPr sz="9900" b="1">
                <a:solidFill>
                  <a:srgbClr val="D76F3E"/>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D5B2B90D-6BD1-4244-A3DA-802030A7D624}"/>
              </a:ext>
            </a:extLst>
          </p:cNvPr>
          <p:cNvSpPr>
            <a:spLocks xmlns:a="http://schemas.openxmlformats.org/drawingml/2006/main" noGrp="1"/>
          </p:cNvSpPr>
          <p:nvPr/>
        </p:nvSpPr>
        <p:spPr>
          <a:xfrm xmlns:a="http://schemas.openxmlformats.org/drawingml/2006/main">
            <a:off x="685800" y="319087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63D38"/>
                </a:solidFill>
                <a:latin typeface="Arial"/>
                <a:ea typeface="Arial"/>
                <a:cs typeface="Arial"/>
              </a:defRPr>
            </a:defPPr>
          </a:lstStyle>
          <a:p xmlns:a="http://schemas.openxmlformats.org/drawingml/2006/main">
            <a:pPr>
              <a:defRPr sz="2625" b="1">
                <a:solidFill>
                  <a:srgbClr val="163D38"/>
                </a:solidFill>
                <a:latin typeface="Arial"/>
                <a:ea typeface="Arial"/>
                <a:cs typeface="Arial"/>
              </a:defRPr>
            </a:pPr>
            <a:r>
              <a:rPr sz="2625" b="1">
                <a:solidFill>
                  <a:srgbClr val="163D38"/>
                </a:solidFill>
                <a:latin typeface="Arial"/>
                <a:ea typeface="Arial"/>
                <a:cs typeface="Arial"/>
              </a:rPr>
              <a:t>API tests</a:t>
            </a:r>
          </a:p>
        </p:txBody>
      </p:sp>
      <p:sp>
        <p:nvSpPr>
          <p:cNvPr id="4" name="">
            <a:extLst xmlns:a="http://schemas.openxmlformats.org/drawingml/2006/main">
              <a:ext uri="{FF2B5EF4-FFF2-40B4-BE49-F238E27FC236}">
                <a16:creationId xmlns:a16="http://schemas.microsoft.com/office/drawing/2014/main" id="{5B16E504-F18F-4E73-83FA-E238EA18DEC5}"/>
              </a:ext>
            </a:extLst>
          </p:cNvPr>
          <p:cNvSpPr>
            <a:spLocks xmlns:a="http://schemas.openxmlformats.org/drawingml/2006/main" noGrp="1"/>
          </p:cNvSpPr>
          <p:nvPr/>
        </p:nvSpPr>
        <p:spPr>
          <a:xfrm xmlns:a="http://schemas.openxmlformats.org/drawingml/2006/main">
            <a:off x="685800" y="4095750"/>
            <a:ext cx="2952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963"/>
                </a:solidFill>
                <a:latin typeface="Arial"/>
                <a:ea typeface="Arial"/>
                <a:cs typeface="Arial"/>
              </a:defRPr>
            </a:defPPr>
          </a:lstStyle>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Isolated test database</a:t>
            </a:r>
          </a:p>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CRUD and validation</a:t>
            </a:r>
          </a:p>
          <a:p xmlns:a="http://schemas.openxmlformats.org/drawingml/2006/main">
            <a:pPr>
              <a:defRPr sz="1950" b="0">
                <a:solidFill>
                  <a:srgbClr val="526963"/>
                </a:solidFill>
                <a:latin typeface="Arial"/>
                <a:ea typeface="Arial"/>
                <a:cs typeface="Arial"/>
              </a:defRPr>
            </a:pPr>
            <a:r>
              <a:rPr sz="1950" b="0">
                <a:solidFill>
                  <a:srgbClr val="526963"/>
                </a:solidFill>
                <a:latin typeface="Arial"/>
                <a:ea typeface="Arial"/>
                <a:cs typeface="Arial"/>
              </a:rPr>
              <a:t>Real PostgreSQL race check</a:t>
            </a:r>
          </a:p>
        </p:txBody>
      </p:sp>
      <p:pic>
        <p:nvPicPr>
          <p:cNvPr id="5" name="">
            <a:extLst xmlns:a="http://schemas.openxmlformats.org/drawingml/2006/main">
              <a:ext uri="{FF2B5EF4-FFF2-40B4-BE49-F238E27FC236}">
                <a16:creationId xmlns:a16="http://schemas.microsoft.com/office/drawing/2014/main" id="{FB60C031-8513-47F7-9CAC-66E2896685D1}"/>
              </a:ext>
            </a:extLst>
          </p:cNvPr>
          <p:cNvPicPr>
            <a:picLocks xmlns:a="http://schemas.openxmlformats.org/drawingml/2006/main" noChangeAspect="1"/>
          </p:cNvPicPr>
          <p:nvPr/>
        </p:nvPicPr>
        <p:blipFill>
          <a:blip xmlns:r="http://schemas.openxmlformats.org/officeDocument/2006/relationships" xmlns:a="http://schemas.openxmlformats.org/drawingml/2006/main" r:embed="R6c519192f98c4f20"/>
          <a:stretch xmlns:a="http://schemas.openxmlformats.org/drawingml/2006/main"/>
        </p:blipFill>
        <p:spPr>
          <a:xfrm xmlns:a="http://schemas.openxmlformats.org/drawingml/2006/main">
            <a:off x="3762375" y="1481733"/>
            <a:ext cx="7905750" cy="444698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941962C-52B5-429F-99F5-7E44E08C2515}"/>
              </a:ext>
            </a:extLst>
          </p:cNvPr>
          <p:cNvSpPr>
            <a:spLocks xmlns:a="http://schemas.openxmlformats.org/drawingml/2006/main" noGrp="1"/>
          </p:cNvSpPr>
          <p:nvPr/>
        </p:nvSpPr>
        <p:spPr>
          <a:xfrm xmlns:a="http://schemas.openxmlformats.org/drawingml/2006/main">
            <a:off x="3857625" y="6143625"/>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3D38"/>
                </a:solidFill>
                <a:latin typeface="Arial"/>
                <a:ea typeface="Arial"/>
                <a:cs typeface="Arial"/>
              </a:defRPr>
            </a:defPPr>
          </a:lstStyle>
          <a:p xmlns:a="http://schemas.openxmlformats.org/drawingml/2006/main">
            <a:pPr>
              <a:defRPr sz="1875" b="1">
                <a:solidFill>
                  <a:srgbClr val="163D38"/>
                </a:solidFill>
                <a:latin typeface="Arial"/>
                <a:ea typeface="Arial"/>
                <a:cs typeface="Arial"/>
              </a:defRPr>
            </a:pPr>
            <a:r>
              <a:rPr sz="1875" b="1">
                <a:solidFill>
                  <a:srgbClr val="163D38"/>
                </a:solidFill>
                <a:latin typeface="Arial"/>
                <a:ea typeface="Arial"/>
                <a:cs typeface="Arial"/>
              </a:rPr>
              <a:t>Concurrent booking requests: one 201, one 409</a:t>
            </a:r>
          </a:p>
        </p:txBody>
      </p:sp>
    </p:spTree>
    <p:extLst>
      <p:ext uri="{BB962C8B-B14F-4D97-AF65-F5344CB8AC3E}">
        <p14:creationId xmlns:p14="http://schemas.microsoft.com/office/powerpoint/2010/main" val="810146932"/>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110F16-B1F6-4E51-8BAD-51A15F3FA6D4}"/>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CI/CD and security gates</a:t>
            </a:r>
          </a:p>
        </p:txBody>
      </p:sp>
      <p:pic>
        <p:nvPicPr>
          <p:cNvPr id="2" name="">
            <a:extLst xmlns:a="http://schemas.openxmlformats.org/drawingml/2006/main">
              <a:ext uri="{FF2B5EF4-FFF2-40B4-BE49-F238E27FC236}">
                <a16:creationId xmlns:a16="http://schemas.microsoft.com/office/drawing/2014/main" id="{6E241FDB-C8D9-49D4-8D0F-44DBBEF5168F}"/>
              </a:ext>
            </a:extLst>
          </p:cNvPr>
          <p:cNvPicPr>
            <a:picLocks xmlns:a="http://schemas.openxmlformats.org/drawingml/2006/main" noChangeAspect="1"/>
          </p:cNvPicPr>
          <p:nvPr/>
        </p:nvPicPr>
        <p:blipFill>
          <a:blip xmlns:r="http://schemas.openxmlformats.org/officeDocument/2006/relationships" xmlns:a="http://schemas.openxmlformats.org/drawingml/2006/main" r:embed="R9bae3031e0c14a2a"/>
          <a:stretch xmlns:a="http://schemas.openxmlformats.org/drawingml/2006/main"/>
        </p:blipFill>
        <p:spPr>
          <a:xfrm xmlns:a="http://schemas.openxmlformats.org/drawingml/2006/main">
            <a:off x="2406802" y="1276350"/>
            <a:ext cx="7378397" cy="41529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EE7C0AB-1D9F-4918-AC5E-D6A2E03364B6}"/>
              </a:ext>
            </a:extLst>
          </p:cNvPr>
          <p:cNvSpPr>
            <a:spLocks xmlns:a="http://schemas.openxmlformats.org/drawingml/2006/main" noGrp="1"/>
          </p:cNvSpPr>
          <p:nvPr/>
        </p:nvSpPr>
        <p:spPr>
          <a:xfrm xmlns:a="http://schemas.openxmlformats.org/drawingml/2006/main">
            <a:off x="628650" y="579120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D38"/>
                </a:solidFill>
                <a:latin typeface="Arial"/>
                <a:ea typeface="Arial"/>
                <a:cs typeface="Arial"/>
              </a:defRPr>
            </a:defPPr>
          </a:lstStyle>
          <a:p xmlns:a="http://schemas.openxmlformats.org/drawingml/2006/main">
            <a:pPr>
              <a:defRPr sz="2175" b="1">
                <a:solidFill>
                  <a:srgbClr val="163D38"/>
                </a:solidFill>
                <a:latin typeface="Arial"/>
                <a:ea typeface="Arial"/>
                <a:cs typeface="Arial"/>
              </a:defRPr>
            </a:pPr>
            <a:r>
              <a:rPr sz="2175" b="1">
                <a:solidFill>
                  <a:srgbClr val="163D38"/>
                </a:solidFill>
                <a:latin typeface="Arial"/>
                <a:ea typeface="Arial"/>
                <a:cs typeface="Arial"/>
              </a:rPr>
              <a:t>Tests and audits</a:t>
            </a:r>
          </a:p>
        </p:txBody>
      </p:sp>
      <p:sp>
        <p:nvSpPr>
          <p:cNvPr id="4" name="">
            <a:extLst xmlns:a="http://schemas.openxmlformats.org/drawingml/2006/main">
              <a:ext uri="{FF2B5EF4-FFF2-40B4-BE49-F238E27FC236}">
                <a16:creationId xmlns:a16="http://schemas.microsoft.com/office/drawing/2014/main" id="{D755025F-2171-4279-AE47-6226FBF4F728}"/>
              </a:ext>
            </a:extLst>
          </p:cNvPr>
          <p:cNvSpPr>
            <a:spLocks xmlns:a="http://schemas.openxmlformats.org/drawingml/2006/main" noGrp="1"/>
          </p:cNvSpPr>
          <p:nvPr/>
        </p:nvSpPr>
        <p:spPr>
          <a:xfrm xmlns:a="http://schemas.openxmlformats.org/drawingml/2006/main">
            <a:off x="4257675" y="57912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D38"/>
                </a:solidFill>
                <a:latin typeface="Arial"/>
                <a:ea typeface="Arial"/>
                <a:cs typeface="Arial"/>
              </a:defRPr>
            </a:defPPr>
          </a:lstStyle>
          <a:p xmlns:a="http://schemas.openxmlformats.org/drawingml/2006/main">
            <a:pPr>
              <a:defRPr sz="2175" b="1">
                <a:solidFill>
                  <a:srgbClr val="163D38"/>
                </a:solidFill>
                <a:latin typeface="Arial"/>
                <a:ea typeface="Arial"/>
                <a:cs typeface="Arial"/>
              </a:defRPr>
            </a:pPr>
            <a:r>
              <a:rPr sz="2175" b="1">
                <a:solidFill>
                  <a:srgbClr val="163D38"/>
                </a:solidFill>
                <a:latin typeface="Arial"/>
                <a:ea typeface="Arial"/>
                <a:cs typeface="Arial"/>
              </a:rPr>
              <a:t>Docker and Trivy</a:t>
            </a:r>
          </a:p>
        </p:txBody>
      </p:sp>
      <p:sp>
        <p:nvSpPr>
          <p:cNvPr id="5" name="">
            <a:extLst xmlns:a="http://schemas.openxmlformats.org/drawingml/2006/main">
              <a:ext uri="{FF2B5EF4-FFF2-40B4-BE49-F238E27FC236}">
                <a16:creationId xmlns:a16="http://schemas.microsoft.com/office/drawing/2014/main" id="{0D8E6332-0268-49CE-A989-A4DAF1217F9C}"/>
              </a:ext>
            </a:extLst>
          </p:cNvPr>
          <p:cNvSpPr>
            <a:spLocks xmlns:a="http://schemas.openxmlformats.org/drawingml/2006/main" noGrp="1"/>
          </p:cNvSpPr>
          <p:nvPr/>
        </p:nvSpPr>
        <p:spPr>
          <a:xfrm xmlns:a="http://schemas.openxmlformats.org/drawingml/2006/main">
            <a:off x="7981950" y="57912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D38"/>
                </a:solidFill>
                <a:latin typeface="Arial"/>
                <a:ea typeface="Arial"/>
                <a:cs typeface="Arial"/>
              </a:defRPr>
            </a:defPPr>
          </a:lstStyle>
          <a:p xmlns:a="http://schemas.openxmlformats.org/drawingml/2006/main">
            <a:pPr>
              <a:defRPr sz="2175" b="1">
                <a:solidFill>
                  <a:srgbClr val="163D38"/>
                </a:solidFill>
                <a:latin typeface="Arial"/>
                <a:ea typeface="Arial"/>
                <a:cs typeface="Arial"/>
              </a:defRPr>
            </a:pPr>
            <a:r>
              <a:rPr sz="2175" b="1">
                <a:solidFill>
                  <a:srgbClr val="163D38"/>
                </a:solidFill>
                <a:latin typeface="Arial"/>
                <a:ea typeface="Arial"/>
                <a:cs typeface="Arial"/>
              </a:rPr>
              <a:t>SHA images and Helm</a:t>
            </a:r>
          </a:p>
        </p:txBody>
      </p:sp>
      <p:sp>
        <p:nvSpPr>
          <p:cNvPr id="6" name="">
            <a:extLst xmlns:a="http://schemas.openxmlformats.org/drawingml/2006/main">
              <a:ext uri="{FF2B5EF4-FFF2-40B4-BE49-F238E27FC236}">
                <a16:creationId xmlns:a16="http://schemas.microsoft.com/office/drawing/2014/main" id="{3AFCE3ED-276A-4365-9673-552F1F7D35A7}"/>
              </a:ext>
            </a:extLst>
          </p:cNvPr>
          <p:cNvSpPr>
            <a:spLocks xmlns:a="http://schemas.openxmlformats.org/drawingml/2006/main" noGrp="1"/>
          </p:cNvSpPr>
          <p:nvPr/>
        </p:nvSpPr>
        <p:spPr>
          <a:xfrm xmlns:a="http://schemas.openxmlformats.org/drawingml/2006/main">
            <a:off x="628650" y="63341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963"/>
                </a:solidFill>
                <a:latin typeface="Arial"/>
                <a:ea typeface="Arial"/>
                <a:cs typeface="Arial"/>
              </a:defRPr>
            </a:defPPr>
          </a:lstStyle>
          <a:p xmlns:a="http://schemas.openxmlformats.org/drawingml/2006/main">
            <a:pPr>
              <a:defRPr sz="1650" b="0">
                <a:solidFill>
                  <a:srgbClr val="526963"/>
                </a:solidFill>
                <a:latin typeface="Arial"/>
                <a:ea typeface="Arial"/>
                <a:cs typeface="Arial"/>
              </a:defRPr>
            </a:pPr>
            <a:r>
              <a:rPr sz="1650" b="0">
                <a:solidFill>
                  <a:srgbClr val="526963"/>
                </a:solidFill>
                <a:latin typeface="Arial"/>
                <a:ea typeface="Arial"/>
                <a:cs typeface="Arial"/>
              </a:rPr>
              <a:t>A failed gate stops promotion. Cloud deployment runs only while the AWS lab is enabled.</a:t>
            </a:r>
          </a:p>
        </p:txBody>
      </p:sp>
    </p:spTree>
    <p:extLst>
      <p:ext uri="{BB962C8B-B14F-4D97-AF65-F5344CB8AC3E}">
        <p14:creationId xmlns:p14="http://schemas.microsoft.com/office/powerpoint/2010/main" val="1710440423"/>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68673C-80D0-49D6-A017-8FDF57A39815}"/>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AWS infrastructure</a:t>
            </a:r>
          </a:p>
        </p:txBody>
      </p:sp>
      <p:pic>
        <p:nvPicPr>
          <p:cNvPr id="2" name="">
            <a:extLst xmlns:a="http://schemas.openxmlformats.org/drawingml/2006/main">
              <a:ext uri="{FF2B5EF4-FFF2-40B4-BE49-F238E27FC236}">
                <a16:creationId xmlns:a16="http://schemas.microsoft.com/office/drawing/2014/main" id="{1539DD94-0B37-4723-898A-470B5DE9EFE9}"/>
              </a:ext>
            </a:extLst>
          </p:cNvPr>
          <p:cNvPicPr>
            <a:picLocks xmlns:a="http://schemas.openxmlformats.org/drawingml/2006/main" noChangeAspect="1"/>
          </p:cNvPicPr>
          <p:nvPr/>
        </p:nvPicPr>
        <p:blipFill>
          <a:blip xmlns:r="http://schemas.openxmlformats.org/officeDocument/2006/relationships" xmlns:a="http://schemas.openxmlformats.org/drawingml/2006/main" r:embed="Rf84dd5bf2c554897"/>
          <a:stretch xmlns:a="http://schemas.openxmlformats.org/drawingml/2006/main"/>
        </p:blipFill>
        <p:spPr>
          <a:xfrm xmlns:a="http://schemas.openxmlformats.org/drawingml/2006/main">
            <a:off x="514350" y="1474589"/>
            <a:ext cx="8134350" cy="457557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CCBEFD-52FD-421C-8D40-403BAA9D4437}"/>
              </a:ext>
            </a:extLst>
          </p:cNvPr>
          <p:cNvSpPr>
            <a:spLocks xmlns:a="http://schemas.openxmlformats.org/drawingml/2006/main" noGrp="1"/>
          </p:cNvSpPr>
          <p:nvPr/>
        </p:nvSpPr>
        <p:spPr>
          <a:xfrm xmlns:a="http://schemas.openxmlformats.org/drawingml/2006/main">
            <a:off x="8905875" y="17335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D76F3E"/>
                </a:solidFill>
                <a:latin typeface="Arial"/>
                <a:ea typeface="Arial"/>
                <a:cs typeface="Arial"/>
              </a:defRPr>
            </a:defPPr>
          </a:lstStyle>
          <a:p xmlns:a="http://schemas.openxmlformats.org/drawingml/2006/main">
            <a:pPr>
              <a:defRPr sz="3525" b="1">
                <a:solidFill>
                  <a:srgbClr val="D76F3E"/>
                </a:solidFill>
                <a:latin typeface="Arial"/>
                <a:ea typeface="Arial"/>
                <a:cs typeface="Arial"/>
              </a:defRPr>
            </a:pPr>
            <a:r>
              <a:rPr sz="3525" b="1">
                <a:solidFill>
                  <a:srgbClr val="D76F3E"/>
                </a:solidFill>
                <a:latin typeface="Arial"/>
                <a:ea typeface="Arial"/>
                <a:cs typeface="Arial"/>
              </a:rPr>
              <a:t>2 zones</a:t>
            </a:r>
          </a:p>
        </p:txBody>
      </p:sp>
      <p:sp>
        <p:nvSpPr>
          <p:cNvPr id="4" name="">
            <a:extLst xmlns:a="http://schemas.openxmlformats.org/drawingml/2006/main">
              <a:ext uri="{FF2B5EF4-FFF2-40B4-BE49-F238E27FC236}">
                <a16:creationId xmlns:a16="http://schemas.microsoft.com/office/drawing/2014/main" id="{6C28353F-D54B-453F-B576-1897C8B9287D}"/>
              </a:ext>
            </a:extLst>
          </p:cNvPr>
          <p:cNvSpPr>
            <a:spLocks xmlns:a="http://schemas.openxmlformats.org/drawingml/2006/main" noGrp="1"/>
          </p:cNvSpPr>
          <p:nvPr/>
        </p:nvSpPr>
        <p:spPr>
          <a:xfrm xmlns:a="http://schemas.openxmlformats.org/drawingml/2006/main">
            <a:off x="8915400" y="2705100"/>
            <a:ext cx="2619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D38"/>
                </a:solidFill>
                <a:latin typeface="Arial"/>
                <a:ea typeface="Arial"/>
                <a:cs typeface="Arial"/>
              </a:defRPr>
            </a:defPPr>
          </a:lstStyle>
          <a:p xmlns:a="http://schemas.openxmlformats.org/drawingml/2006/main">
            <a:pPr>
              <a:defRPr sz="2100" b="0">
                <a:solidFill>
                  <a:srgbClr val="163D38"/>
                </a:solidFill>
                <a:latin typeface="Arial"/>
                <a:ea typeface="Arial"/>
                <a:cs typeface="Arial"/>
              </a:defRPr>
            </a:pPr>
            <a:r>
              <a:rPr sz="2100" b="0">
                <a:solidFill>
                  <a:srgbClr val="163D38"/>
                </a:solidFill>
                <a:latin typeface="Arial"/>
                <a:ea typeface="Arial"/>
                <a:cs typeface="Arial"/>
              </a:rPr>
              <a:t>Two public subnets</a:t>
            </a:r>
          </a:p>
          <a:p xmlns:a="http://schemas.openxmlformats.org/drawingml/2006/main">
            <a:pPr>
              <a:defRPr sz="2100" b="0">
                <a:solidFill>
                  <a:srgbClr val="163D38"/>
                </a:solidFill>
                <a:latin typeface="Arial"/>
                <a:ea typeface="Arial"/>
                <a:cs typeface="Arial"/>
              </a:defRPr>
            </a:pPr>
            <a:r>
              <a:rPr sz="2100" b="0">
                <a:solidFill>
                  <a:srgbClr val="163D38"/>
                </a:solidFill>
                <a:latin typeface="Arial"/>
                <a:ea typeface="Arial"/>
                <a:cs typeface="Arial"/>
              </a:rPr>
              <a:t>One EKS cluster</a:t>
            </a:r>
          </a:p>
          <a:p xmlns:a="http://schemas.openxmlformats.org/drawingml/2006/main">
            <a:pPr>
              <a:defRPr sz="2100" b="0">
                <a:solidFill>
                  <a:srgbClr val="163D38"/>
                </a:solidFill>
                <a:latin typeface="Arial"/>
                <a:ea typeface="Arial"/>
                <a:cs typeface="Arial"/>
              </a:defRPr>
            </a:pPr>
            <a:r>
              <a:rPr sz="2100" b="0">
                <a:solidFill>
                  <a:srgbClr val="163D38"/>
                </a:solidFill>
                <a:latin typeface="Arial"/>
                <a:ea typeface="Arial"/>
                <a:cs typeface="Arial"/>
              </a:rPr>
              <a:t>Two worker nodes</a:t>
            </a:r>
          </a:p>
        </p:txBody>
      </p:sp>
      <p:sp>
        <p:nvSpPr>
          <p:cNvPr id="5" name="">
            <a:extLst xmlns:a="http://schemas.openxmlformats.org/drawingml/2006/main">
              <a:ext uri="{FF2B5EF4-FFF2-40B4-BE49-F238E27FC236}">
                <a16:creationId xmlns:a16="http://schemas.microsoft.com/office/drawing/2014/main" id="{9229508A-2C35-4C3E-8CCB-27EEDFBD61CC}"/>
              </a:ext>
            </a:extLst>
          </p:cNvPr>
          <p:cNvSpPr>
            <a:spLocks xmlns:a="http://schemas.openxmlformats.org/drawingml/2006/main" noGrp="1"/>
          </p:cNvSpPr>
          <p:nvPr/>
        </p:nvSpPr>
        <p:spPr>
          <a:xfrm xmlns:a="http://schemas.openxmlformats.org/drawingml/2006/main">
            <a:off x="8915400" y="4772025"/>
            <a:ext cx="266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63"/>
                </a:solidFill>
                <a:latin typeface="Arial"/>
                <a:ea typeface="Arial"/>
                <a:cs typeface="Arial"/>
              </a:defRPr>
            </a:defPPr>
          </a:lstStyle>
          <a:p xmlns:a="http://schemas.openxmlformats.org/drawingml/2006/main">
            <a:pPr>
              <a:defRPr sz="1875" b="0">
                <a:solidFill>
                  <a:srgbClr val="526963"/>
                </a:solidFill>
                <a:latin typeface="Arial"/>
                <a:ea typeface="Arial"/>
                <a:cs typeface="Arial"/>
              </a:defRPr>
            </a:pPr>
            <a:r>
              <a:rPr sz="1875" b="0">
                <a:solidFill>
                  <a:srgbClr val="526963"/>
                </a:solidFill>
                <a:latin typeface="Arial"/>
                <a:ea typeface="Arial"/>
                <a:cs typeface="Arial"/>
              </a:rPr>
              <a:t>Temporary OIDC access</a:t>
            </a:r>
          </a:p>
          <a:p xmlns:a="http://schemas.openxmlformats.org/drawingml/2006/main">
            <a:pPr>
              <a:defRPr sz="1875" b="0">
                <a:solidFill>
                  <a:srgbClr val="526963"/>
                </a:solidFill>
                <a:latin typeface="Arial"/>
                <a:ea typeface="Arial"/>
                <a:cs typeface="Arial"/>
              </a:defRPr>
            </a:pPr>
            <a:r>
              <a:rPr sz="1875" b="0">
                <a:solidFill>
                  <a:srgbClr val="526963"/>
                </a:solidFill>
                <a:latin typeface="Arial"/>
                <a:ea typeface="Arial"/>
                <a:cs typeface="Arial"/>
              </a:rPr>
              <a:t>Teardown after recording</a:t>
            </a:r>
          </a:p>
        </p:txBody>
      </p:sp>
      <p:sp>
        <p:nvSpPr>
          <p:cNvPr id="6" name="">
            <a:extLst xmlns:a="http://schemas.openxmlformats.org/drawingml/2006/main">
              <a:ext uri="{FF2B5EF4-FFF2-40B4-BE49-F238E27FC236}">
                <a16:creationId xmlns:a16="http://schemas.microsoft.com/office/drawing/2014/main" id="{7E1B9D34-BEE7-46AE-AA33-8700625228C9}"/>
              </a:ext>
            </a:extLst>
          </p:cNvPr>
          <p:cNvSpPr>
            <a:spLocks xmlns:a="http://schemas.openxmlformats.org/drawingml/2006/main" noGrp="1"/>
          </p:cNvSpPr>
          <p:nvPr/>
        </p:nvSpPr>
        <p:spPr>
          <a:xfrm xmlns:a="http://schemas.openxmlformats.org/drawingml/2006/main">
            <a:off x="628650" y="63246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963"/>
                </a:solidFill>
                <a:latin typeface="Arial"/>
                <a:ea typeface="Arial"/>
                <a:cs typeface="Arial"/>
              </a:defRPr>
            </a:defPPr>
          </a:lstStyle>
          <a:p xmlns:a="http://schemas.openxmlformats.org/drawingml/2006/main">
            <a:pPr>
              <a:defRPr sz="1800" b="0">
                <a:solidFill>
                  <a:srgbClr val="526963"/>
                </a:solidFill>
                <a:latin typeface="Arial"/>
                <a:ea typeface="Arial"/>
                <a:cs typeface="Arial"/>
              </a:defRPr>
            </a:pPr>
            <a:r>
              <a:rPr sz="1800" b="0">
                <a:solidFill>
                  <a:srgbClr val="526963"/>
                </a:solidFill>
                <a:latin typeface="Arial"/>
                <a:ea typeface="Arial"/>
                <a:cs typeface="Arial"/>
              </a:rPr>
              <a:t>us-east-1   VPC 10.42.0.0/16</a:t>
            </a:r>
          </a:p>
        </p:txBody>
      </p:sp>
    </p:spTree>
    <p:extLst>
      <p:ext uri="{BB962C8B-B14F-4D97-AF65-F5344CB8AC3E}">
        <p14:creationId xmlns:p14="http://schemas.microsoft.com/office/powerpoint/2010/main" val="463008924"/>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1ABFCE-342A-46CE-9CCF-62B1ABBF440D}"/>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Kubernetes and Helm</a:t>
            </a:r>
          </a:p>
        </p:txBody>
      </p:sp>
      <p:pic>
        <p:nvPicPr>
          <p:cNvPr id="2" name="">
            <a:extLst xmlns:a="http://schemas.openxmlformats.org/drawingml/2006/main">
              <a:ext uri="{FF2B5EF4-FFF2-40B4-BE49-F238E27FC236}">
                <a16:creationId xmlns:a16="http://schemas.microsoft.com/office/drawing/2014/main" id="{3268FA10-17BC-4F7A-87B9-89E95E9E8C69}"/>
              </a:ext>
            </a:extLst>
          </p:cNvPr>
          <p:cNvPicPr>
            <a:picLocks xmlns:a="http://schemas.openxmlformats.org/drawingml/2006/main" noChangeAspect="1"/>
          </p:cNvPicPr>
          <p:nvPr/>
        </p:nvPicPr>
        <p:blipFill>
          <a:blip xmlns:r="http://schemas.openxmlformats.org/officeDocument/2006/relationships" xmlns:a="http://schemas.openxmlformats.org/drawingml/2006/main" r:embed="Rd5b57156a2564dce"/>
          <a:stretch xmlns:a="http://schemas.openxmlformats.org/drawingml/2006/main"/>
        </p:blipFill>
        <p:spPr>
          <a:xfrm xmlns:a="http://schemas.openxmlformats.org/drawingml/2006/main">
            <a:off x="1932960" y="1266825"/>
            <a:ext cx="8326081" cy="4686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F149A3-2CB2-4E1F-8AC0-6BFEC09611DF}"/>
              </a:ext>
            </a:extLst>
          </p:cNvPr>
          <p:cNvSpPr>
            <a:spLocks xmlns:a="http://schemas.openxmlformats.org/drawingml/2006/main" noGrp="1"/>
          </p:cNvSpPr>
          <p:nvPr/>
        </p:nvSpPr>
        <p:spPr>
          <a:xfrm xmlns:a="http://schemas.openxmlformats.org/drawingml/2006/main">
            <a:off x="647700" y="62007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D38"/>
                </a:solidFill>
                <a:latin typeface="Arial"/>
                <a:ea typeface="Arial"/>
                <a:cs typeface="Arial"/>
              </a:defRPr>
            </a:defPPr>
          </a:lstStyle>
          <a:p xmlns:a="http://schemas.openxmlformats.org/drawingml/2006/main">
            <a:pPr>
              <a:defRPr sz="2175" b="1">
                <a:solidFill>
                  <a:srgbClr val="163D38"/>
                </a:solidFill>
                <a:latin typeface="Arial"/>
                <a:ea typeface="Arial"/>
                <a:cs typeface="Arial"/>
              </a:defRPr>
            </a:pPr>
            <a:r>
              <a:rPr sz="2175" b="1">
                <a:solidFill>
                  <a:srgbClr val="163D38"/>
                </a:solidFill>
                <a:latin typeface="Arial"/>
                <a:ea typeface="Arial"/>
                <a:cs typeface="Arial"/>
              </a:rPr>
              <a:t>Ready Pods</a:t>
            </a:r>
          </a:p>
        </p:txBody>
      </p:sp>
      <p:sp>
        <p:nvSpPr>
          <p:cNvPr id="4" name="">
            <a:extLst xmlns:a="http://schemas.openxmlformats.org/drawingml/2006/main">
              <a:ext uri="{FF2B5EF4-FFF2-40B4-BE49-F238E27FC236}">
                <a16:creationId xmlns:a16="http://schemas.microsoft.com/office/drawing/2014/main" id="{25A23500-D99B-413A-B441-87D5B626741F}"/>
              </a:ext>
            </a:extLst>
          </p:cNvPr>
          <p:cNvSpPr>
            <a:spLocks xmlns:a="http://schemas.openxmlformats.org/drawingml/2006/main" noGrp="1"/>
          </p:cNvSpPr>
          <p:nvPr/>
        </p:nvSpPr>
        <p:spPr>
          <a:xfrm xmlns:a="http://schemas.openxmlformats.org/drawingml/2006/main">
            <a:off x="4048125" y="62007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D38"/>
                </a:solidFill>
                <a:latin typeface="Arial"/>
                <a:ea typeface="Arial"/>
                <a:cs typeface="Arial"/>
              </a:defRPr>
            </a:defPPr>
          </a:lstStyle>
          <a:p xmlns:a="http://schemas.openxmlformats.org/drawingml/2006/main">
            <a:pPr>
              <a:defRPr sz="2175" b="1">
                <a:solidFill>
                  <a:srgbClr val="163D38"/>
                </a:solidFill>
                <a:latin typeface="Arial"/>
                <a:ea typeface="Arial"/>
                <a:cs typeface="Arial"/>
              </a:defRPr>
            </a:pPr>
            <a:r>
              <a:rPr sz="2175" b="1">
                <a:solidFill>
                  <a:srgbClr val="163D38"/>
                </a:solidFill>
                <a:latin typeface="Arial"/>
                <a:ea typeface="Arial"/>
                <a:cs typeface="Arial"/>
              </a:rPr>
              <a:t>Internal Services</a:t>
            </a:r>
          </a:p>
        </p:txBody>
      </p:sp>
      <p:sp>
        <p:nvSpPr>
          <p:cNvPr id="5" name="">
            <a:extLst xmlns:a="http://schemas.openxmlformats.org/drawingml/2006/main">
              <a:ext uri="{FF2B5EF4-FFF2-40B4-BE49-F238E27FC236}">
                <a16:creationId xmlns:a16="http://schemas.microsoft.com/office/drawing/2014/main" id="{8771F658-9875-4334-84B2-4DB35B539025}"/>
              </a:ext>
            </a:extLst>
          </p:cNvPr>
          <p:cNvSpPr>
            <a:spLocks xmlns:a="http://schemas.openxmlformats.org/drawingml/2006/main" noGrp="1"/>
          </p:cNvSpPr>
          <p:nvPr/>
        </p:nvSpPr>
        <p:spPr>
          <a:xfrm xmlns:a="http://schemas.openxmlformats.org/drawingml/2006/main">
            <a:off x="8058150" y="62007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D38"/>
                </a:solidFill>
                <a:latin typeface="Arial"/>
                <a:ea typeface="Arial"/>
                <a:cs typeface="Arial"/>
              </a:defRPr>
            </a:defPPr>
          </a:lstStyle>
          <a:p xmlns:a="http://schemas.openxmlformats.org/drawingml/2006/main">
            <a:pPr>
              <a:defRPr sz="2175" b="1">
                <a:solidFill>
                  <a:srgbClr val="163D38"/>
                </a:solidFill>
                <a:latin typeface="Arial"/>
                <a:ea typeface="Arial"/>
                <a:cs typeface="Arial"/>
              </a:defRPr>
            </a:pPr>
            <a:r>
              <a:rPr sz="2175" b="1">
                <a:solidFill>
                  <a:srgbClr val="163D38"/>
                </a:solidFill>
                <a:latin typeface="Arial"/>
                <a:ea typeface="Arial"/>
                <a:cs typeface="Arial"/>
              </a:rPr>
              <a:t>Bound database PVC</a:t>
            </a:r>
          </a:p>
        </p:txBody>
      </p:sp>
    </p:spTree>
    <p:extLst>
      <p:ext uri="{BB962C8B-B14F-4D97-AF65-F5344CB8AC3E}">
        <p14:creationId xmlns:p14="http://schemas.microsoft.com/office/powerpoint/2010/main" val="1840869670"/>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B33F8C0-3E3E-4FCF-9C14-21D39BCC1617}"/>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GitOps with Argo CD</a:t>
            </a:r>
          </a:p>
        </p:txBody>
      </p:sp>
      <p:pic>
        <p:nvPicPr>
          <p:cNvPr id="2" name="">
            <a:extLst xmlns:a="http://schemas.openxmlformats.org/drawingml/2006/main">
              <a:ext uri="{FF2B5EF4-FFF2-40B4-BE49-F238E27FC236}">
                <a16:creationId xmlns:a16="http://schemas.microsoft.com/office/drawing/2014/main" id="{030FC8D9-4089-4671-8DF0-D2AC47EA48ED}"/>
              </a:ext>
            </a:extLst>
          </p:cNvPr>
          <p:cNvPicPr>
            <a:picLocks xmlns:a="http://schemas.openxmlformats.org/drawingml/2006/main" noChangeAspect="1"/>
          </p:cNvPicPr>
          <p:nvPr/>
        </p:nvPicPr>
        <p:blipFill>
          <a:blip xmlns:r="http://schemas.openxmlformats.org/officeDocument/2006/relationships" xmlns:a="http://schemas.openxmlformats.org/drawingml/2006/main" r:embed="Rd1e10994271e40b9"/>
          <a:stretch xmlns:a="http://schemas.openxmlformats.org/drawingml/2006/main"/>
        </p:blipFill>
        <p:spPr>
          <a:xfrm xmlns:a="http://schemas.openxmlformats.org/drawingml/2006/main">
            <a:off x="1947333" y="1285875"/>
            <a:ext cx="8297333"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8FF2809-32C8-4D3B-AD92-6E696E6612FF}"/>
              </a:ext>
            </a:extLst>
          </p:cNvPr>
          <p:cNvSpPr>
            <a:spLocks xmlns:a="http://schemas.openxmlformats.org/drawingml/2006/main" noGrp="1"/>
          </p:cNvSpPr>
          <p:nvPr/>
        </p:nvSpPr>
        <p:spPr>
          <a:xfrm xmlns:a="http://schemas.openxmlformats.org/drawingml/2006/main">
            <a:off x="628650" y="62103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D38"/>
                </a:solidFill>
                <a:latin typeface="Arial"/>
                <a:ea typeface="Arial"/>
                <a:cs typeface="Arial"/>
              </a:defRPr>
            </a:defPPr>
          </a:lstStyle>
          <a:p xmlns:a="http://schemas.openxmlformats.org/drawingml/2006/main">
            <a:pPr>
              <a:defRPr sz="2175" b="1">
                <a:solidFill>
                  <a:srgbClr val="163D38"/>
                </a:solidFill>
                <a:latin typeface="Arial"/>
                <a:ea typeface="Arial"/>
                <a:cs typeface="Arial"/>
              </a:defRPr>
            </a:pPr>
            <a:r>
              <a:rPr sz="2175" b="1">
                <a:solidFill>
                  <a:srgbClr val="163D38"/>
                </a:solidFill>
                <a:latin typeface="Arial"/>
                <a:ea typeface="Arial"/>
                <a:cs typeface="Arial"/>
              </a:rPr>
              <a:t>Git change   Configuration rollout   Synced / Healthy</a:t>
            </a:r>
          </a:p>
        </p:txBody>
      </p:sp>
    </p:spTree>
    <p:extLst>
      <p:ext uri="{BB962C8B-B14F-4D97-AF65-F5344CB8AC3E}">
        <p14:creationId xmlns:p14="http://schemas.microsoft.com/office/powerpoint/2010/main" val="1686127652"/>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65CF60B-66DC-4FB3-A85E-DBB635603574}"/>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Prometheus targets</a:t>
            </a:r>
          </a:p>
        </p:txBody>
      </p:sp>
      <p:pic>
        <p:nvPicPr>
          <p:cNvPr id="2" name="">
            <a:extLst xmlns:a="http://schemas.openxmlformats.org/drawingml/2006/main">
              <a:ext uri="{FF2B5EF4-FFF2-40B4-BE49-F238E27FC236}">
                <a16:creationId xmlns:a16="http://schemas.microsoft.com/office/drawing/2014/main" id="{A892EA9E-9541-48B2-A21A-4DD2ACCEDFA3}"/>
              </a:ext>
            </a:extLst>
          </p:cNvPr>
          <p:cNvPicPr>
            <a:picLocks xmlns:a="http://schemas.openxmlformats.org/drawingml/2006/main" noChangeAspect="1"/>
          </p:cNvPicPr>
          <p:nvPr/>
        </p:nvPicPr>
        <p:blipFill>
          <a:blip xmlns:r="http://schemas.openxmlformats.org/officeDocument/2006/relationships" xmlns:a="http://schemas.openxmlformats.org/drawingml/2006/main" r:embed="Rfb637aaa32cc41db"/>
          <a:stretch xmlns:a="http://schemas.openxmlformats.org/drawingml/2006/main"/>
        </p:blipFill>
        <p:spPr>
          <a:xfrm xmlns:a="http://schemas.openxmlformats.org/drawingml/2006/main">
            <a:off x="1989667" y="1285875"/>
            <a:ext cx="8212667" cy="46196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235D23A-6E2D-4193-9375-0C9589790866}"/>
              </a:ext>
            </a:extLst>
          </p:cNvPr>
          <p:cNvSpPr>
            <a:spLocks xmlns:a="http://schemas.openxmlformats.org/drawingml/2006/main" noGrp="1"/>
          </p:cNvSpPr>
          <p:nvPr/>
        </p:nvSpPr>
        <p:spPr>
          <a:xfrm xmlns:a="http://schemas.openxmlformats.org/drawingml/2006/main">
            <a:off x="628650" y="6181725"/>
            <a:ext cx="1090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3D38"/>
                </a:solidFill>
                <a:latin typeface="Arial"/>
                <a:ea typeface="Arial"/>
                <a:cs typeface="Arial"/>
              </a:defRPr>
            </a:defPPr>
          </a:lstStyle>
          <a:p xmlns:a="http://schemas.openxmlformats.org/drawingml/2006/main">
            <a:pPr>
              <a:defRPr sz="2250" b="1">
                <a:solidFill>
                  <a:srgbClr val="163D38"/>
                </a:solidFill>
                <a:latin typeface="Arial"/>
                <a:ea typeface="Arial"/>
                <a:cs typeface="Arial"/>
              </a:defRPr>
            </a:pPr>
            <a:r>
              <a:rPr sz="2250" b="1">
                <a:solidFill>
                  <a:srgbClr val="163D38"/>
                </a:solidFill>
                <a:latin typeface="Arial"/>
                <a:ea typeface="Arial"/>
                <a:cs typeface="Arial"/>
              </a:rPr>
              <a:t>Backend targets UP through the ServiceMonitor</a:t>
            </a:r>
          </a:p>
        </p:txBody>
      </p:sp>
    </p:spTree>
    <p:extLst>
      <p:ext uri="{BB962C8B-B14F-4D97-AF65-F5344CB8AC3E}">
        <p14:creationId xmlns:p14="http://schemas.microsoft.com/office/powerpoint/2010/main" val="430769952"/>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2ED38F5-7536-4BAE-BB36-49567D87551F}"/>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Application metrics in Grafana</a:t>
            </a:r>
          </a:p>
        </p:txBody>
      </p:sp>
      <p:pic>
        <p:nvPicPr>
          <p:cNvPr id="2" name="">
            <a:extLst xmlns:a="http://schemas.openxmlformats.org/drawingml/2006/main">
              <a:ext uri="{FF2B5EF4-FFF2-40B4-BE49-F238E27FC236}">
                <a16:creationId xmlns:a16="http://schemas.microsoft.com/office/drawing/2014/main" id="{A7A53DDF-71A3-4CD5-ADB7-E27330C6F02E}"/>
              </a:ext>
            </a:extLst>
          </p:cNvPr>
          <p:cNvPicPr>
            <a:picLocks xmlns:a="http://schemas.openxmlformats.org/drawingml/2006/main" noChangeAspect="1"/>
          </p:cNvPicPr>
          <p:nvPr/>
        </p:nvPicPr>
        <p:blipFill>
          <a:blip xmlns:r="http://schemas.openxmlformats.org/officeDocument/2006/relationships" xmlns:a="http://schemas.openxmlformats.org/drawingml/2006/main" r:embed="R459a21dadb5c4864"/>
          <a:stretch xmlns:a="http://schemas.openxmlformats.org/drawingml/2006/main"/>
        </p:blipFill>
        <p:spPr>
          <a:xfrm xmlns:a="http://schemas.openxmlformats.org/drawingml/2006/main">
            <a:off x="1738346" y="1238250"/>
            <a:ext cx="8715308" cy="49053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AA41A1E-5C2B-4CB3-91CD-A14AB323FB43}"/>
              </a:ext>
            </a:extLst>
          </p:cNvPr>
          <p:cNvSpPr>
            <a:spLocks xmlns:a="http://schemas.openxmlformats.org/drawingml/2006/main" noGrp="1"/>
          </p:cNvSpPr>
          <p:nvPr/>
        </p:nvSpPr>
        <p:spPr>
          <a:xfrm xmlns:a="http://schemas.openxmlformats.org/drawingml/2006/main">
            <a:off x="609600" y="63150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963"/>
                </a:solidFill>
                <a:latin typeface="Arial"/>
                <a:ea typeface="Arial"/>
                <a:cs typeface="Arial"/>
              </a:defRPr>
            </a:defPPr>
          </a:lstStyle>
          <a:p xmlns:a="http://schemas.openxmlformats.org/drawingml/2006/main">
            <a:pPr>
              <a:defRPr sz="1800" b="0">
                <a:solidFill>
                  <a:srgbClr val="526963"/>
                </a:solidFill>
                <a:latin typeface="Arial"/>
                <a:ea typeface="Arial"/>
                <a:cs typeface="Arial"/>
              </a:defRPr>
            </a:pPr>
            <a:r>
              <a:rPr sz="1800" b="0">
                <a:solidFill>
                  <a:srgbClr val="526963"/>
                </a:solidFill>
                <a:latin typeface="Arial"/>
                <a:ea typeface="Arial"/>
                <a:cs typeface="Arial"/>
              </a:rPr>
              <a:t>Actual request activity and latency, collected from the running application</a:t>
            </a:r>
          </a:p>
        </p:txBody>
      </p:sp>
    </p:spTree>
    <p:extLst>
      <p:ext uri="{BB962C8B-B14F-4D97-AF65-F5344CB8AC3E}">
        <p14:creationId xmlns:p14="http://schemas.microsoft.com/office/powerpoint/2010/main" val="1259369579"/>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4E1EA7-9201-452E-9222-773C98C4D30E}"/>
              </a:ext>
            </a:extLst>
          </p:cNvPr>
          <p:cNvSpPr>
            <a:spLocks xmlns:a="http://schemas.openxmlformats.org/drawingml/2006/main" noGrp="1"/>
          </p:cNvSpPr>
          <p:nvPr/>
        </p:nvSpPr>
        <p:spPr>
          <a:xfrm xmlns:a="http://schemas.openxmlformats.org/drawingml/2006/main">
            <a:off x="609600" y="381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D38"/>
                </a:solidFill>
                <a:latin typeface="Arial"/>
                <a:ea typeface="Arial"/>
                <a:cs typeface="Arial"/>
              </a:defRPr>
            </a:defPPr>
          </a:lstStyle>
          <a:p xmlns:a="http://schemas.openxmlformats.org/drawingml/2006/main">
            <a:pPr>
              <a:defRPr sz="3600" b="1">
                <a:solidFill>
                  <a:srgbClr val="163D38"/>
                </a:solidFill>
                <a:latin typeface="Arial"/>
                <a:ea typeface="Arial"/>
                <a:cs typeface="Arial"/>
              </a:defRPr>
            </a:pPr>
            <a:r>
              <a:rPr sz="3600" b="1">
                <a:solidFill>
                  <a:srgbClr val="163D38"/>
                </a:solidFill>
                <a:latin typeface="Arial"/>
                <a:ea typeface="Arial"/>
                <a:cs typeface="Arial"/>
              </a:rPr>
              <a:t>Learnings and cleanup</a:t>
            </a:r>
          </a:p>
        </p:txBody>
      </p:sp>
      <p:sp>
        <p:nvSpPr>
          <p:cNvPr id="2" name="">
            <a:extLst xmlns:a="http://schemas.openxmlformats.org/drawingml/2006/main">
              <a:ext uri="{FF2B5EF4-FFF2-40B4-BE49-F238E27FC236}">
                <a16:creationId xmlns:a16="http://schemas.microsoft.com/office/drawing/2014/main" id="{C62C12C9-615D-4F9E-A4BB-CB3FD87292D5}"/>
              </a:ext>
            </a:extLst>
          </p:cNvPr>
          <p:cNvSpPr>
            <a:spLocks xmlns:a="http://schemas.openxmlformats.org/drawingml/2006/main" noGrp="1"/>
          </p:cNvSpPr>
          <p:nvPr/>
        </p:nvSpPr>
        <p:spPr>
          <a:xfrm xmlns:a="http://schemas.openxmlformats.org/drawingml/2006/main">
            <a:off x="628650" y="15525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3D38"/>
                </a:solidFill>
                <a:latin typeface="Arial"/>
                <a:ea typeface="Arial"/>
                <a:cs typeface="Arial"/>
              </a:defRPr>
            </a:defPPr>
          </a:lstStyle>
          <a:p xmlns:a="http://schemas.openxmlformats.org/drawingml/2006/main">
            <a:pPr>
              <a:defRPr sz="2250" b="1">
                <a:solidFill>
                  <a:srgbClr val="163D38"/>
                </a:solidFill>
                <a:latin typeface="Arial"/>
                <a:ea typeface="Arial"/>
                <a:cs typeface="Arial"/>
              </a:defRPr>
            </a:pPr>
            <a:r>
              <a:rPr sz="2250" b="1">
                <a:solidFill>
                  <a:srgbClr val="163D38"/>
                </a:solidFill>
                <a:latin typeface="Arial"/>
                <a:ea typeface="Arial"/>
                <a:cs typeface="Arial"/>
              </a:rPr>
              <a:t>The database handles races</a:t>
            </a:r>
          </a:p>
        </p:txBody>
      </p:sp>
      <p:sp>
        <p:nvSpPr>
          <p:cNvPr id="3" name="">
            <a:extLst xmlns:a="http://schemas.openxmlformats.org/drawingml/2006/main">
              <a:ext uri="{FF2B5EF4-FFF2-40B4-BE49-F238E27FC236}">
                <a16:creationId xmlns:a16="http://schemas.microsoft.com/office/drawing/2014/main" id="{B77BF6CB-D1BD-4D46-8225-F30253B45C07}"/>
              </a:ext>
            </a:extLst>
          </p:cNvPr>
          <p:cNvSpPr>
            <a:spLocks xmlns:a="http://schemas.openxmlformats.org/drawingml/2006/main" noGrp="1"/>
          </p:cNvSpPr>
          <p:nvPr/>
        </p:nvSpPr>
        <p:spPr>
          <a:xfrm xmlns:a="http://schemas.openxmlformats.org/drawingml/2006/main">
            <a:off x="628650" y="2047875"/>
            <a:ext cx="5191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63"/>
                </a:solidFill>
                <a:latin typeface="Arial"/>
                <a:ea typeface="Arial"/>
                <a:cs typeface="Arial"/>
              </a:defRPr>
            </a:defPPr>
          </a:lstStyle>
          <a:p xmlns:a="http://schemas.openxmlformats.org/drawingml/2006/main">
            <a:pPr>
              <a:defRPr sz="1875" b="0">
                <a:solidFill>
                  <a:srgbClr val="526963"/>
                </a:solidFill>
                <a:latin typeface="Arial"/>
                <a:ea typeface="Arial"/>
                <a:cs typeface="Arial"/>
              </a:defRPr>
            </a:pPr>
            <a:r>
              <a:rPr sz="1875" b="0">
                <a:solidFill>
                  <a:srgbClr val="526963"/>
                </a:solidFill>
                <a:latin typeface="Arial"/>
                <a:ea typeface="Arial"/>
                <a:cs typeface="Arial"/>
              </a:rPr>
              <a:t>A unique room/date/hour key protects simultaneous requests.</a:t>
            </a:r>
          </a:p>
        </p:txBody>
      </p:sp>
      <p:sp>
        <p:nvSpPr>
          <p:cNvPr id="4" name="">
            <a:extLst xmlns:a="http://schemas.openxmlformats.org/drawingml/2006/main">
              <a:ext uri="{FF2B5EF4-FFF2-40B4-BE49-F238E27FC236}">
                <a16:creationId xmlns:a16="http://schemas.microsoft.com/office/drawing/2014/main" id="{936B9494-4DD9-4912-AD7C-ECD576D8EC5A}"/>
              </a:ext>
            </a:extLst>
          </p:cNvPr>
          <p:cNvSpPr>
            <a:spLocks xmlns:a="http://schemas.openxmlformats.org/drawingml/2006/main" noGrp="1"/>
          </p:cNvSpPr>
          <p:nvPr/>
        </p:nvSpPr>
        <p:spPr>
          <a:xfrm xmlns:a="http://schemas.openxmlformats.org/drawingml/2006/main">
            <a:off x="628650" y="31051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3D38"/>
                </a:solidFill>
                <a:latin typeface="Arial"/>
                <a:ea typeface="Arial"/>
                <a:cs typeface="Arial"/>
              </a:defRPr>
            </a:defPPr>
          </a:lstStyle>
          <a:p xmlns:a="http://schemas.openxmlformats.org/drawingml/2006/main">
            <a:pPr>
              <a:defRPr sz="2250" b="1">
                <a:solidFill>
                  <a:srgbClr val="163D38"/>
                </a:solidFill>
                <a:latin typeface="Arial"/>
                <a:ea typeface="Arial"/>
                <a:cs typeface="Arial"/>
              </a:defRPr>
            </a:pPr>
            <a:r>
              <a:rPr sz="2250" b="1">
                <a:solidFill>
                  <a:srgbClr val="163D38"/>
                </a:solidFill>
                <a:latin typeface="Arial"/>
                <a:ea typeface="Arial"/>
                <a:cs typeface="Arial"/>
              </a:rPr>
              <a:t>Access stays small</a:t>
            </a:r>
          </a:p>
        </p:txBody>
      </p:sp>
      <p:sp>
        <p:nvSpPr>
          <p:cNvPr id="5" name="">
            <a:extLst xmlns:a="http://schemas.openxmlformats.org/drawingml/2006/main">
              <a:ext uri="{FF2B5EF4-FFF2-40B4-BE49-F238E27FC236}">
                <a16:creationId xmlns:a16="http://schemas.microsoft.com/office/drawing/2014/main" id="{F7851567-A0C6-4FF7-ACE1-204B2E6109B5}"/>
              </a:ext>
            </a:extLst>
          </p:cNvPr>
          <p:cNvSpPr>
            <a:spLocks xmlns:a="http://schemas.openxmlformats.org/drawingml/2006/main" noGrp="1"/>
          </p:cNvSpPr>
          <p:nvPr/>
        </p:nvSpPr>
        <p:spPr>
          <a:xfrm xmlns:a="http://schemas.openxmlformats.org/drawingml/2006/main">
            <a:off x="628650" y="3600450"/>
            <a:ext cx="5191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63"/>
                </a:solidFill>
                <a:latin typeface="Arial"/>
                <a:ea typeface="Arial"/>
                <a:cs typeface="Arial"/>
              </a:defRPr>
            </a:defPPr>
          </a:lstStyle>
          <a:p xmlns:a="http://schemas.openxmlformats.org/drawingml/2006/main">
            <a:pPr>
              <a:defRPr sz="1875" b="0">
                <a:solidFill>
                  <a:srgbClr val="526963"/>
                </a:solidFill>
                <a:latin typeface="Arial"/>
                <a:ea typeface="Arial"/>
                <a:cs typeface="Arial"/>
              </a:defRPr>
            </a:pPr>
            <a:r>
              <a:rPr sz="1875" b="0">
                <a:solidFill>
                  <a:srgbClr val="526963"/>
                </a:solidFill>
                <a:latin typeface="Arial"/>
                <a:ea typeface="Arial"/>
                <a:cs typeface="Arial"/>
              </a:rPr>
              <a:t>Namespace deployment permissions include the required custom resource.</a:t>
            </a:r>
          </a:p>
        </p:txBody>
      </p:sp>
      <p:sp>
        <p:nvSpPr>
          <p:cNvPr id="6" name="">
            <a:extLst xmlns:a="http://schemas.openxmlformats.org/drawingml/2006/main">
              <a:ext uri="{FF2B5EF4-FFF2-40B4-BE49-F238E27FC236}">
                <a16:creationId xmlns:a16="http://schemas.microsoft.com/office/drawing/2014/main" id="{8A49C501-9E66-44C1-9313-EACB42451EF8}"/>
              </a:ext>
            </a:extLst>
          </p:cNvPr>
          <p:cNvSpPr>
            <a:spLocks xmlns:a="http://schemas.openxmlformats.org/drawingml/2006/main" noGrp="1"/>
          </p:cNvSpPr>
          <p:nvPr/>
        </p:nvSpPr>
        <p:spPr>
          <a:xfrm xmlns:a="http://schemas.openxmlformats.org/drawingml/2006/main">
            <a:off x="628650" y="473392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3D38"/>
                </a:solidFill>
                <a:latin typeface="Arial"/>
                <a:ea typeface="Arial"/>
                <a:cs typeface="Arial"/>
              </a:defRPr>
            </a:defPPr>
          </a:lstStyle>
          <a:p xmlns:a="http://schemas.openxmlformats.org/drawingml/2006/main">
            <a:pPr>
              <a:defRPr sz="2250" b="1">
                <a:solidFill>
                  <a:srgbClr val="163D38"/>
                </a:solidFill>
                <a:latin typeface="Arial"/>
                <a:ea typeface="Arial"/>
                <a:cs typeface="Arial"/>
              </a:defRPr>
            </a:pPr>
            <a:r>
              <a:rPr sz="2250" b="1">
                <a:solidFill>
                  <a:srgbClr val="163D38"/>
                </a:solidFill>
                <a:latin typeface="Arial"/>
                <a:ea typeface="Arial"/>
                <a:cs typeface="Arial"/>
              </a:rPr>
              <a:t>The lab has limits</a:t>
            </a:r>
          </a:p>
        </p:txBody>
      </p:sp>
      <p:sp>
        <p:nvSpPr>
          <p:cNvPr id="7" name="">
            <a:extLst xmlns:a="http://schemas.openxmlformats.org/drawingml/2006/main">
              <a:ext uri="{FF2B5EF4-FFF2-40B4-BE49-F238E27FC236}">
                <a16:creationId xmlns:a16="http://schemas.microsoft.com/office/drawing/2014/main" id="{3D17B93A-9869-48B5-9EAC-2372EE70370D}"/>
              </a:ext>
            </a:extLst>
          </p:cNvPr>
          <p:cNvSpPr>
            <a:spLocks xmlns:a="http://schemas.openxmlformats.org/drawingml/2006/main" noGrp="1"/>
          </p:cNvSpPr>
          <p:nvPr/>
        </p:nvSpPr>
        <p:spPr>
          <a:xfrm xmlns:a="http://schemas.openxmlformats.org/drawingml/2006/main">
            <a:off x="628650" y="5229225"/>
            <a:ext cx="5191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63"/>
                </a:solidFill>
                <a:latin typeface="Arial"/>
                <a:ea typeface="Arial"/>
                <a:cs typeface="Arial"/>
              </a:defRPr>
            </a:defPPr>
          </a:lstStyle>
          <a:p xmlns:a="http://schemas.openxmlformats.org/drawingml/2006/main">
            <a:pPr>
              <a:defRPr sz="1875" b="0">
                <a:solidFill>
                  <a:srgbClr val="526963"/>
                </a:solidFill>
                <a:latin typeface="Arial"/>
                <a:ea typeface="Arial"/>
                <a:cs typeface="Arial"/>
              </a:defRPr>
            </a:pPr>
            <a:r>
              <a:rPr sz="1875" b="0">
                <a:solidFill>
                  <a:srgbClr val="526963"/>
                </a:solidFill>
                <a:latin typeface="Arial"/>
                <a:ea typeface="Arial"/>
                <a:cs typeface="Arial"/>
              </a:rPr>
              <a:t>Authentication, TLS, reliable backups and database HA remain production work.</a:t>
            </a:r>
          </a:p>
        </p:txBody>
      </p:sp>
      <p:pic>
        <p:nvPicPr>
          <p:cNvPr id="8" name="">
            <a:extLst xmlns:a="http://schemas.openxmlformats.org/drawingml/2006/main">
              <a:ext uri="{FF2B5EF4-FFF2-40B4-BE49-F238E27FC236}">
                <a16:creationId xmlns:a16="http://schemas.microsoft.com/office/drawing/2014/main" id="{69EC48E0-6B9A-4147-B4C1-90EF58891248}"/>
              </a:ext>
            </a:extLst>
          </p:cNvPr>
          <p:cNvPicPr>
            <a:picLocks xmlns:a="http://schemas.openxmlformats.org/drawingml/2006/main" noChangeAspect="1"/>
          </p:cNvPicPr>
          <p:nvPr/>
        </p:nvPicPr>
        <p:blipFill>
          <a:blip xmlns:r="http://schemas.openxmlformats.org/officeDocument/2006/relationships" xmlns:a="http://schemas.openxmlformats.org/drawingml/2006/main" r:embed="Rb2be7e04909f4908"/>
          <a:stretch xmlns:a="http://schemas.openxmlformats.org/drawingml/2006/main"/>
        </p:blipFill>
        <p:spPr>
          <a:xfrm xmlns:a="http://schemas.openxmlformats.org/drawingml/2006/main">
            <a:off x="6219825" y="2025551"/>
            <a:ext cx="5362575" cy="301644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A423D52-7EE1-4313-BAC9-3B4063DF3F23}"/>
              </a:ext>
            </a:extLst>
          </p:cNvPr>
          <p:cNvSpPr>
            <a:spLocks xmlns:a="http://schemas.openxmlformats.org/drawingml/2006/main" noGrp="1"/>
          </p:cNvSpPr>
          <p:nvPr/>
        </p:nvSpPr>
        <p:spPr>
          <a:xfrm xmlns:a="http://schemas.openxmlformats.org/drawingml/2006/main">
            <a:off x="6448425" y="567690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3D38"/>
                </a:solidFill>
                <a:latin typeface="Arial"/>
                <a:ea typeface="Arial"/>
                <a:cs typeface="Arial"/>
              </a:defRPr>
            </a:defPPr>
          </a:lstStyle>
          <a:p xmlns:a="http://schemas.openxmlformats.org/drawingml/2006/main">
            <a:pPr>
              <a:defRPr sz="1950" b="1">
                <a:solidFill>
                  <a:srgbClr val="163D38"/>
                </a:solidFill>
                <a:latin typeface="Arial"/>
                <a:ea typeface="Arial"/>
                <a:cs typeface="Arial"/>
              </a:defRPr>
            </a:pPr>
            <a:r>
              <a:rPr sz="1950" b="1">
                <a:solidFill>
                  <a:srgbClr val="163D38"/>
                </a:solidFill>
                <a:latin typeface="Arial"/>
                <a:ea typeface="Arial"/>
                <a:cs typeface="Arial"/>
              </a:rPr>
              <a:t>Earlier lab: verified teardown</a:t>
            </a:r>
          </a:p>
          <a:p xmlns:a="http://schemas.openxmlformats.org/drawingml/2006/main">
            <a:pPr>
              <a:defRPr sz="1950" b="1">
                <a:solidFill>
                  <a:srgbClr val="163D38"/>
                </a:solidFill>
                <a:latin typeface="Arial"/>
                <a:ea typeface="Arial"/>
                <a:cs typeface="Arial"/>
              </a:defRPr>
            </a:pPr>
            <a:r>
              <a:rPr sz="1950" b="1">
                <a:solidFill>
                  <a:srgbClr val="163D38"/>
                </a:solidFill>
                <a:latin typeface="Arial"/>
                <a:ea typeface="Arial"/>
                <a:cs typeface="Arial"/>
              </a:rPr>
              <a:t>New lab: cleanup after recording</a:t>
            </a:r>
          </a:p>
        </p:txBody>
      </p:sp>
    </p:spTree>
    <p:extLst>
      <p:ext uri="{BB962C8B-B14F-4D97-AF65-F5344CB8AC3E}">
        <p14:creationId xmlns:p14="http://schemas.microsoft.com/office/powerpoint/2010/main" val="483527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
  <lastModifiedBy/>
  <dc:title>StudySlot</dc:title>
  <dcterms:created xsi:type="dcterms:W3CDTF">2026-10-16T17:51:23.7730000Z</dcterms:created>
  <dcterms:modified xsi:type="dcterms:W3CDTF">2026-10-16T17:51:23.7730000Z</dcterms:modified>
</coreProperties>
</file>